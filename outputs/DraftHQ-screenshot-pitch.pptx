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e7b6af8d4430a" /><Relationship Type="http://schemas.openxmlformats.org/officeDocument/2006/relationships/extended-properties" Target="/docProps/app.xml" Id="R4740cee910d74d02" /><Relationship Type="http://schemas.openxmlformats.org/officeDocument/2006/relationships/officeDocument" Target="/ppt/presentation.xml" Id="Rc120e527a19e4a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aa76f9f784e8f"/>
  </p:sldMasterIdLst>
  <p:notesMasterIdLst>
    <p:notesMasterId xmlns:r="http://schemas.openxmlformats.org/officeDocument/2006/relationships" r:id="Rc936e3a34660460a"/>
  </p:notesMasterIdLst>
  <p:sldIdLst>
    <p:sldId xmlns:r="http://schemas.openxmlformats.org/officeDocument/2006/relationships" id="256" r:id="R5be7c7bced204fb0"/>
    <p:sldId xmlns:r="http://schemas.openxmlformats.org/officeDocument/2006/relationships" id="257" r:id="R83fd97a097204cea"/>
    <p:sldId xmlns:r="http://schemas.openxmlformats.org/officeDocument/2006/relationships" id="258" r:id="Re4a98391f72a4f79"/>
    <p:sldId xmlns:r="http://schemas.openxmlformats.org/officeDocument/2006/relationships" id="259" r:id="R9eefc49649cf4d36"/>
    <p:sldId xmlns:r="http://schemas.openxmlformats.org/officeDocument/2006/relationships" id="260" r:id="R67ecea6c2e3c4b10"/>
    <p:sldId xmlns:r="http://schemas.openxmlformats.org/officeDocument/2006/relationships" id="261" r:id="Re1234210599845db"/>
    <p:sldId xmlns:r="http://schemas.openxmlformats.org/officeDocument/2006/relationships" id="262" r:id="R12c72069fa614261"/>
    <p:sldId xmlns:r="http://schemas.openxmlformats.org/officeDocument/2006/relationships" id="263" r:id="R6db6b4aea61d4b89"/>
    <p:sldId xmlns:r="http://schemas.openxmlformats.org/officeDocument/2006/relationships" id="264" r:id="R2d640f78ac6a465c"/>
    <p:sldId xmlns:r="http://schemas.openxmlformats.org/officeDocument/2006/relationships" id="265" r:id="Rec59637a46e94c76"/>
    <p:sldId xmlns:r="http://schemas.openxmlformats.org/officeDocument/2006/relationships" id="266" r:id="R870c4d05a568482f"/>
    <p:sldId xmlns:r="http://schemas.openxmlformats.org/officeDocument/2006/relationships" id="267" r:id="Rd85cf918082c4793"/>
    <p:sldId xmlns:r="http://schemas.openxmlformats.org/officeDocument/2006/relationships" id="268" r:id="Rfde7b10629fe42fe"/>
    <p:sldId xmlns:r="http://schemas.openxmlformats.org/officeDocument/2006/relationships" id="269" r:id="Rd2a4a70f26c741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796c20e3fd4c8d" /><Relationship Type="http://schemas.openxmlformats.org/officeDocument/2006/relationships/slideMaster" Target="/ppt/slideMasters/slideMaster1.xml" Id="Ra26aa76f9f784e8f" /><Relationship Type="http://schemas.openxmlformats.org/officeDocument/2006/relationships/notesMaster" Target="/ppt/notesMasters/notesMaster1.xml" Id="Rc936e3a34660460a" /><Relationship Type="http://schemas.openxmlformats.org/officeDocument/2006/relationships/presProps" Target="/ppt/presProps.xml" Id="R76d4845c73394da5" /><Relationship Type="http://schemas.openxmlformats.org/officeDocument/2006/relationships/tableStyles" Target="/ppt/tableStyles.xml" Id="R2843da2182a34c81" /><Relationship Type="http://schemas.openxmlformats.org/officeDocument/2006/relationships/slide" Target="/ppt/slides/slide1.xml" Id="R5be7c7bced204fb0" /><Relationship Type="http://schemas.openxmlformats.org/officeDocument/2006/relationships/slide" Target="/ppt/slides/slide2.xml" Id="R83fd97a097204cea" /><Relationship Type="http://schemas.openxmlformats.org/officeDocument/2006/relationships/slide" Target="/ppt/slides/slide3.xml" Id="Re4a98391f72a4f79" /><Relationship Type="http://schemas.openxmlformats.org/officeDocument/2006/relationships/slide" Target="/ppt/slides/slide4.xml" Id="R9eefc49649cf4d36" /><Relationship Type="http://schemas.openxmlformats.org/officeDocument/2006/relationships/slide" Target="/ppt/slides/slide5.xml" Id="R67ecea6c2e3c4b10" /><Relationship Type="http://schemas.openxmlformats.org/officeDocument/2006/relationships/slide" Target="/ppt/slides/slide6.xml" Id="Re1234210599845db" /><Relationship Type="http://schemas.openxmlformats.org/officeDocument/2006/relationships/slide" Target="/ppt/slides/slide7.xml" Id="R12c72069fa614261" /><Relationship Type="http://schemas.openxmlformats.org/officeDocument/2006/relationships/slide" Target="/ppt/slides/slide8.xml" Id="R6db6b4aea61d4b89" /><Relationship Type="http://schemas.openxmlformats.org/officeDocument/2006/relationships/slide" Target="/ppt/slides/slide9.xml" Id="R2d640f78ac6a465c" /><Relationship Type="http://schemas.openxmlformats.org/officeDocument/2006/relationships/slide" Target="/ppt/slides/slide10.xml" Id="Rec59637a46e94c76" /><Relationship Type="http://schemas.openxmlformats.org/officeDocument/2006/relationships/slide" Target="/ppt/slides/slide11.xml" Id="R870c4d05a568482f" /><Relationship Type="http://schemas.openxmlformats.org/officeDocument/2006/relationships/slide" Target="/ppt/slides/slide12.xml" Id="Rd85cf918082c4793" /><Relationship Type="http://schemas.openxmlformats.org/officeDocument/2006/relationships/slide" Target="/ppt/slides/slide13.xml" Id="Rfde7b10629fe42fe" /><Relationship Type="http://schemas.openxmlformats.org/officeDocument/2006/relationships/slide" Target="/ppt/slides/slide14.xml" Id="Rd2a4a70f26c741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bfd0ec00114c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04c17ad7b3435c" /><Relationship Type="http://schemas.openxmlformats.org/officeDocument/2006/relationships/notesMaster" Target="/ppt/notesMasters/notesMaster1.xml" Id="R0340580245a44e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968bd5117049c6" /><Relationship Type="http://schemas.openxmlformats.org/officeDocument/2006/relationships/notesMaster" Target="/ppt/notesMasters/notesMaster1.xml" Id="Re6768e1c034e46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e7820314cb41c3" /><Relationship Type="http://schemas.openxmlformats.org/officeDocument/2006/relationships/notesMaster" Target="/ppt/notesMasters/notesMaster1.xml" Id="R5b948cf4272f48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4a90b944e24844" /><Relationship Type="http://schemas.openxmlformats.org/officeDocument/2006/relationships/notesMaster" Target="/ppt/notesMasters/notesMaster1.xml" Id="R3cf15d15ff6c4c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36ca5f6ba64e90" /><Relationship Type="http://schemas.openxmlformats.org/officeDocument/2006/relationships/notesMaster" Target="/ppt/notesMasters/notesMaster1.xml" Id="R517d0fc7061c41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504e9b559047b2" /><Relationship Type="http://schemas.openxmlformats.org/officeDocument/2006/relationships/notesMaster" Target="/ppt/notesMasters/notesMaster1.xml" Id="R1ff457b0fd5f45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449a27378f4e0b" /><Relationship Type="http://schemas.openxmlformats.org/officeDocument/2006/relationships/notesMaster" Target="/ppt/notesMasters/notesMaster1.xml" Id="R266a52c6124c40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21644c7053413d" /><Relationship Type="http://schemas.openxmlformats.org/officeDocument/2006/relationships/notesMaster" Target="/ppt/notesMasters/notesMaster1.xml" Id="R416ee45f1f944d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1dc932a4354ac5" /><Relationship Type="http://schemas.openxmlformats.org/officeDocument/2006/relationships/notesMaster" Target="/ppt/notesMasters/notesMaster1.xml" Id="R84766e11c78743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e7bee7af244fe9" /><Relationship Type="http://schemas.openxmlformats.org/officeDocument/2006/relationships/notesMaster" Target="/ppt/notesMasters/notesMaster1.xml" Id="R122be91d0ed740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0ef4b9a7b045dd" /><Relationship Type="http://schemas.openxmlformats.org/officeDocument/2006/relationships/notesMaster" Target="/ppt/notesMasters/notesMaster1.xml" Id="Rba48f2825ee94d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ada49279964600" /><Relationship Type="http://schemas.openxmlformats.org/officeDocument/2006/relationships/notesMaster" Target="/ppt/notesMasters/notesMaster1.xml" Id="R861f44d336724a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9509ad687b46a3" /><Relationship Type="http://schemas.openxmlformats.org/officeDocument/2006/relationships/notesMaster" Target="/ppt/notesMasters/notesMaster1.xml" Id="R8341c6e0d3da48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910d87e11f4038" /><Relationship Type="http://schemas.openxmlformats.org/officeDocument/2006/relationships/notesMaster" Target="/ppt/notesMasters/notesMaster1.xml" Id="R0107537f7c55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9ee68f05e4e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857fafaf5492b" /><Relationship Type="http://schemas.openxmlformats.org/officeDocument/2006/relationships/slideLayout" Target="/ppt/slideLayouts/slideLayout1.xml" Id="R5eb7d97094d143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b7d97094d143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db79a056f4cc8" /><Relationship Type="http://schemas.openxmlformats.org/officeDocument/2006/relationships/image" Target="/ppt/media/image.png" Id="R6753ec587e924b50" /><Relationship Type="http://schemas.openxmlformats.org/officeDocument/2006/relationships/notesSlide" Target="/ppt/notesSlides/notesSlide1.xml" Id="Ra41d94246f1443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e4bc02c2f43ab" /><Relationship Type="http://schemas.openxmlformats.org/officeDocument/2006/relationships/notesSlide" Target="/ppt/notesSlides/notesSlide2.xml" Id="R6eae05d2563d49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50d07ac874fd7" /><Relationship Type="http://schemas.openxmlformats.org/officeDocument/2006/relationships/notesSlide" Target="/ppt/notesSlides/notesSlide3.xml" Id="R4cf16e5f79a243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226f558994aa6" /><Relationship Type="http://schemas.openxmlformats.org/officeDocument/2006/relationships/image" Target="/ppt/media/image2.png" Id="R3be02f707a4d49c6" /><Relationship Type="http://schemas.openxmlformats.org/officeDocument/2006/relationships/notesSlide" Target="/ppt/notesSlides/notesSlide4.xml" Id="R1e998115d8ef48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4958950bf4a83" /><Relationship Type="http://schemas.openxmlformats.org/officeDocument/2006/relationships/image" Target="/ppt/media/image3.png" Id="R9fa32896c4f3432d" /><Relationship Type="http://schemas.openxmlformats.org/officeDocument/2006/relationships/notesSlide" Target="/ppt/notesSlides/notesSlide5.xml" Id="R667705a4ac204f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8b3211d8541de" /><Relationship Type="http://schemas.openxmlformats.org/officeDocument/2006/relationships/image" Target="/ppt/media/image4.png" Id="R0bf9f37d576743ad" /><Relationship Type="http://schemas.openxmlformats.org/officeDocument/2006/relationships/notesSlide" Target="/ppt/notesSlides/notesSlide6.xml" Id="R8feefe2a67a440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307cc7a7c49b0" /><Relationship Type="http://schemas.openxmlformats.org/officeDocument/2006/relationships/image" Target="/ppt/media/image5.png" Id="R2bb815c8b1cb41c8" /><Relationship Type="http://schemas.openxmlformats.org/officeDocument/2006/relationships/notesSlide" Target="/ppt/notesSlides/notesSlide7.xml" Id="R87027231fe6742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b8be57e0b4742" /><Relationship Type="http://schemas.openxmlformats.org/officeDocument/2006/relationships/image" Target="/ppt/media/image6.png" Id="R3d0d0971ddee4876" /><Relationship Type="http://schemas.openxmlformats.org/officeDocument/2006/relationships/notesSlide" Target="/ppt/notesSlides/notesSlide8.xml" Id="Rc1857923f4ae4a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63468cbeb4642" /><Relationship Type="http://schemas.openxmlformats.org/officeDocument/2006/relationships/image" Target="/ppt/media/image7.png" Id="Ra16654d7a45349e8" /><Relationship Type="http://schemas.openxmlformats.org/officeDocument/2006/relationships/notesSlide" Target="/ppt/notesSlides/notesSlide9.xml" Id="Rafe7ec99470a44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273d2e1154a3e" /><Relationship Type="http://schemas.openxmlformats.org/officeDocument/2006/relationships/image" Target="/ppt/media/image8.png" Id="R4007bbff660a41ce" /><Relationship Type="http://schemas.openxmlformats.org/officeDocument/2006/relationships/notesSlide" Target="/ppt/notesSlides/notesSlide10.xml" Id="R4c6744e8fd0e4b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56b3515c144b0" /><Relationship Type="http://schemas.openxmlformats.org/officeDocument/2006/relationships/notesSlide" Target="/ppt/notesSlides/notesSlide11.xml" Id="Rfb1b11aa04ad4c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35cf0e90b4faf" /><Relationship Type="http://schemas.openxmlformats.org/officeDocument/2006/relationships/notesSlide" Target="/ppt/notesSlides/notesSlide12.xml" Id="Ra450bbdcdc3e40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ffaf0d3ad43a6" /><Relationship Type="http://schemas.openxmlformats.org/officeDocument/2006/relationships/notesSlide" Target="/ppt/notesSlides/notesSlide13.xml" Id="Raf24d09852d542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19f7f9d844477" /><Relationship Type="http://schemas.openxmlformats.org/officeDocument/2006/relationships/image" Target="/ppt/media/image9.png" Id="Rde30180889e047dd" /><Relationship Type="http://schemas.openxmlformats.org/officeDocument/2006/relationships/notesSlide" Target="/ppt/notesSlides/notesSlide14.xml" Id="Rce84f1313f1b4e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and">
            <a:extLst xmlns:a="http://schemas.openxmlformats.org/drawingml/2006/main">
              <a:ext uri="{FF2B5EF4-FFF2-40B4-BE49-F238E27FC236}">
                <a16:creationId xmlns:a16="http://schemas.microsoft.com/office/drawing/2014/main" id="{84F919C9-74F2-4992-B835-0A53330A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47A91AE-8D30-48D3-BB9E-CA7840D8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8F84"/>
                </a:solidFill>
              </a:defRPr>
            </a:pPr>
            <a:r>
              <a:rPr sz="1125" b="1">
                <a:solidFill>
                  <a:srgbClr val="0F8F84"/>
                </a:solidFill>
              </a:rPr>
              <a:t>PRODUCT STORY • JUNE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BC9032F-2A75-4B3F-A0E2-14B3EC1B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19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7111F"/>
                </a:solidFill>
              </a:defRPr>
            </a:pPr>
            <a:r>
              <a:rPr sz="4500" b="1">
                <a:solidFill>
                  <a:srgbClr val="07111F"/>
                </a:solidFill>
              </a:rPr>
              <a:t>Draft night, built to feel shared.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0FBE14-A8D0-4234-A99D-F4271C8C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3616D"/>
                </a:solidFill>
              </a:defRPr>
            </a:pPr>
            <a:r>
              <a:rPr sz="1875" b="0">
                <a:solidFill>
                  <a:srgbClr val="53616D"/>
                </a:solidFill>
              </a:rPr>
              <a:t>DraftHQ combines a reliable multiplayer draft room with the league workspace that surrounds it.</a:t>
            </a:r>
          </a:p>
        </p:txBody>
      </p:sp>
      <p:sp>
        <p:nvSpPr>
          <p:cNvPr id="5" name="pill-CURRENT STATE + ROADMAP-42">
            <a:extLst xmlns:a="http://schemas.openxmlformats.org/drawingml/2006/main">
              <a:ext uri="{FF2B5EF4-FFF2-40B4-BE49-F238E27FC236}">
                <a16:creationId xmlns:a16="http://schemas.microsoft.com/office/drawing/2014/main" id="{B0540AE8-F313-4A0A-9006-EEE8CC2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ll-text-CURRENT STATE + ROADMAP-42">
            <a:extLst xmlns:a="http://schemas.openxmlformats.org/drawingml/2006/main">
              <a:ext uri="{FF2B5EF4-FFF2-40B4-BE49-F238E27FC236}">
                <a16:creationId xmlns:a16="http://schemas.microsoft.com/office/drawing/2014/main" id="{F67290BF-1F12-4736-8F50-AAB75864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CURRENT STATE + ROADMAP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3ec587e924b50"/>
          <a:stretch xmlns:a="http://schemas.openxmlformats.org/drawingml/2006/main"/>
        </p:blipFill>
        <p:spPr>
          <a:xfrm xmlns:a="http://schemas.openxmlformats.org/drawingml/2006/main">
            <a:off x="400050" y="5347648"/>
            <a:ext cx="3333750" cy="696604"/>
          </a:xfrm>
          <a:prstGeom xmlns:a="http://schemas.openxmlformats.org/drawingml/2006/main" prst="rect">
            <a:avLst/>
          </a:prstGeom>
        </p:spPr>
      </p:pic>
      <p:sp>
        <p:nvSpPr>
          <p:cNvPr id="8" name="cover-note">
            <a:extLst xmlns:a="http://schemas.openxmlformats.org/drawingml/2006/main">
              <a:ext uri="{FF2B5EF4-FFF2-40B4-BE49-F238E27FC236}">
                <a16:creationId xmlns:a16="http://schemas.microsoft.com/office/drawing/2014/main" id="{DABDEC16-E883-4A6F-BBD4-07C503C3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 presentation-ready tour of what exists today—and what comes next.</a:t>
            </a:r>
          </a:p>
        </p:txBody>
      </p:sp>
    </p:spTree>
    <p:extLst>
      <p:ext uri="{BB962C8B-B14F-4D97-AF65-F5344CB8AC3E}">
        <p14:creationId xmlns:p14="http://schemas.microsoft.com/office/powerpoint/2010/main" val="164037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8EE8B752-B078-495D-8FEE-B5084E4D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THE IDEA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C5B7AC2-3C56-47BA-80C1-EA2643B2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One product, two moments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A31D4A-3236-44FB-B8DE-35EEB7D4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02</a:t>
            </a:r>
          </a:p>
        </p:txBody>
      </p: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37B62AFB-81B9-43FB-978D-CB7CC23A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52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DraftHQ starts with the highest-pressure league moment—the live draft—and grows outward into the league’s operating home.</a:t>
            </a:r>
          </a:p>
        </p:txBody>
      </p:sp>
      <p:cxnSp>
        <p:nvCxnSpPr>
          <p:cNvPr id="31" name="rule-42-272"/>
          <p:cNvCxnSpPr/>
          <p:nvPr/>
        </p:nvCxn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111F"/>
            </a:solidFill>
            <a:prstDash val="solid"/>
          </a:ln>
        </p:spPr>
      </p:cxn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AE8B72FC-DACB-4543-B5A6-16E18AC3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F8F84"/>
                </a:solidFill>
              </a:defRPr>
            </a:pPr>
            <a:r>
              <a:rPr sz="3900" b="1">
                <a:solidFill>
                  <a:srgbClr val="0F8F84"/>
                </a:solidFill>
              </a:rPr>
              <a:t>153</a:t>
            </a:r>
          </a:p>
        </p:txBody>
      </p:sp>
      <p:sp>
        <p:nvSpPr>
          <p:cNvPr id="7" name="metric-desc-0">
            <a:extLst xmlns:a="http://schemas.openxmlformats.org/drawingml/2006/main">
              <a:ext uri="{FF2B5EF4-FFF2-40B4-BE49-F238E27FC236}">
                <a16:creationId xmlns:a16="http://schemas.microsoft.com/office/drawing/2014/main" id="{784659A5-BC83-4FAE-97E7-8A98740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unit tests passing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B2342C38-6D82-425C-AFF0-6744DA01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037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111F"/>
                </a:solidFill>
              </a:defRPr>
            </a:pPr>
            <a:r>
              <a:rPr sz="3900" b="1">
                <a:solidFill>
                  <a:srgbClr val="07111F"/>
                </a:solidFill>
              </a:rPr>
              <a:t>32</a:t>
            </a:r>
          </a:p>
        </p:txBody>
      </p:sp>
      <p:sp>
        <p:nvSpPr>
          <p:cNvPr id="9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23E6F89E-9AF5-4E01-BB35-C8405C83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application routes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345877AF-3BD6-4D0B-BA28-F1C30FF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037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111F"/>
                </a:solidFill>
              </a:defRPr>
            </a:pPr>
            <a:r>
              <a:rPr sz="3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11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09ABCFD3-BC57-403F-8EEA-4F95426C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provider paths</a:t>
            </a:r>
          </a:p>
        </p:txBody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A7929F45-BB0B-43B5-ACE3-96B693CB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111F"/>
                </a:solidFill>
              </a:defRPr>
            </a:pPr>
            <a:r>
              <a:rPr sz="3900" b="1">
                <a:solidFill>
                  <a:srgbClr val="07111F"/>
                </a:solidFill>
              </a:rPr>
              <a:t>70</a:t>
            </a:r>
          </a:p>
        </p:txBody>
      </p:sp>
      <p:sp>
        <p:nvSpPr>
          <p:cNvPr id="13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67FDA37A-B20D-4174-85D7-550D9130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338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database migrations</a:t>
            </a:r>
          </a:p>
        </p:txBody>
      </p:sp>
      <p:sp>
        <p:nvSpPr>
          <p:cNvPr id="14" name="thesis-band">
            <a:extLst xmlns:a="http://schemas.openxmlformats.org/drawingml/2006/main">
              <a:ext uri="{FF2B5EF4-FFF2-40B4-BE49-F238E27FC236}">
                <a16:creationId xmlns:a16="http://schemas.microsoft.com/office/drawing/2014/main" id="{32BFF316-12AB-4A8F-8DA1-C14298CF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hesis-left">
            <a:extLst xmlns:a="http://schemas.openxmlformats.org/drawingml/2006/main">
              <a:ext uri="{FF2B5EF4-FFF2-40B4-BE49-F238E27FC236}">
                <a16:creationId xmlns:a16="http://schemas.microsoft.com/office/drawing/2014/main" id="{AF7F77A3-84D6-40D4-AA71-015DF316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Reliable multiplayer draft room first</a:t>
            </a:r>
          </a:p>
        </p:txBody>
      </p:sp>
      <p:sp>
        <p:nvSpPr>
          <p:cNvPr id="16" name="thesis-right">
            <a:extLst xmlns:a="http://schemas.openxmlformats.org/drawingml/2006/main">
              <a:ext uri="{FF2B5EF4-FFF2-40B4-BE49-F238E27FC236}">
                <a16:creationId xmlns:a16="http://schemas.microsoft.com/office/drawing/2014/main" id="{56C66036-2362-4A49-AB91-9A8F4CD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3616D"/>
                </a:solidFill>
              </a:defRPr>
            </a:pPr>
            <a:r>
              <a:rPr sz="1575" b="0">
                <a:solidFill>
                  <a:srgbClr val="53616D"/>
                </a:solidFill>
              </a:rPr>
              <a:t>Then ownership, imports, commissioner tools, mobile, history, and the fun stuff.</a:t>
            </a:r>
          </a:p>
        </p:txBody>
      </p:sp>
    </p:spTree>
    <p:extLst>
      <p:ext uri="{BB962C8B-B14F-4D97-AF65-F5344CB8AC3E}">
        <p14:creationId xmlns:p14="http://schemas.microsoft.com/office/powerpoint/2010/main" val="1780312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FD1C9C1C-CA47-4719-A24F-CE32D35F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EXPERIENCE MAP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22132AC-85F0-469B-98BF-F5019923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The league journey is already visible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D652B2A7-19B0-4FF9-9330-1D2B3E5A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03</a:t>
            </a:r>
          </a:p>
        </p:txBody>
      </p:sp>
      <p:cxnSp>
        <p:nvCxnSpPr>
          <p:cNvPr id="53" name="rule-72-340"/>
          <p:cNvCxnSpPr/>
          <p:nvPr/>
        </p:nvCxnSpPr>
        <p:spPr>
          <a:xfrm xmlns:a="http://schemas.openxmlformats.org/drawingml/2006/main">
            <a:off x="685800" y="32385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DD3"/>
            </a:solidFill>
            <a:prstDash val="solid"/>
          </a:ln>
        </p:spPr>
      </p:cxnSp>
      <p:sp>
        <p:nvSpPr>
          <p:cNvPr id="5" name="dot-72-334">
            <a:extLst xmlns:a="http://schemas.openxmlformats.org/drawingml/2006/main">
              <a:ext uri="{FF2B5EF4-FFF2-40B4-BE49-F238E27FC236}">
                <a16:creationId xmlns:a16="http://schemas.microsoft.com/office/drawing/2014/main" id="{0FEE34B0-F69B-4655-A7B8-59363220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9358C13E-5372-4BF8-AE5A-973ED738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01</a:t>
            </a:r>
          </a:p>
        </p:txBody>
      </p:sp>
      <p:sp>
        <p:nvSpPr>
          <p:cNvPr id="7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F03DA8AD-85B4-4F07-80EF-C8EE35BF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Create</a:t>
            </a:r>
          </a:p>
        </p:txBody>
      </p:sp>
      <p:sp>
        <p:nvSpPr>
          <p:cNvPr id="8" name="journey-desc-0">
            <a:extLst xmlns:a="http://schemas.openxmlformats.org/drawingml/2006/main">
              <a:ext uri="{FF2B5EF4-FFF2-40B4-BE49-F238E27FC236}">
                <a16:creationId xmlns:a16="http://schemas.microsoft.com/office/drawing/2014/main" id="{2E77F7F0-F7E4-4693-8298-982E3E2C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Start a persistent league</a:t>
            </a:r>
          </a:p>
        </p:txBody>
      </p:sp>
      <p:sp>
        <p:nvSpPr>
          <p:cNvPr id="9" name="pill-LIVE-42">
            <a:extLst xmlns:a="http://schemas.openxmlformats.org/drawingml/2006/main">
              <a:ext uri="{FF2B5EF4-FFF2-40B4-BE49-F238E27FC236}">
                <a16:creationId xmlns:a16="http://schemas.microsoft.com/office/drawing/2014/main" id="{E64A1BBA-B32D-46FF-AA8C-80CFEA5F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ll-text-LIVE-42">
            <a:extLst xmlns:a="http://schemas.openxmlformats.org/drawingml/2006/main">
              <a:ext uri="{FF2B5EF4-FFF2-40B4-BE49-F238E27FC236}">
                <a16:creationId xmlns:a16="http://schemas.microsoft.com/office/drawing/2014/main" id="{59005517-CADE-4F01-97BF-803C40DA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11" name="dot-276-334">
            <a:extLst xmlns:a="http://schemas.openxmlformats.org/drawingml/2006/main">
              <a:ext uri="{FF2B5EF4-FFF2-40B4-BE49-F238E27FC236}">
                <a16:creationId xmlns:a16="http://schemas.microsoft.com/office/drawing/2014/main" id="{6E27FCA9-8A9E-4300-9B4A-9FFD421C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6F15D74C-FE74-4BB3-96D3-D9084F92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02</a:t>
            </a:r>
          </a:p>
        </p:txBody>
      </p:sp>
      <p:sp>
        <p:nvSpPr>
          <p:cNvPr id="13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DCE63F05-D9DD-4AB6-A6CA-66A12847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Organize</a:t>
            </a:r>
          </a:p>
        </p:txBody>
      </p:sp>
      <p:sp>
        <p:nvSpPr>
          <p:cNvPr id="14" name="journey-desc-1">
            <a:extLst xmlns:a="http://schemas.openxmlformats.org/drawingml/2006/main">
              <a:ext uri="{FF2B5EF4-FFF2-40B4-BE49-F238E27FC236}">
                <a16:creationId xmlns:a16="http://schemas.microsoft.com/office/drawing/2014/main" id="{9A57932A-4670-4312-8C3C-8664269C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Members, teams, owners</a:t>
            </a:r>
          </a:p>
        </p:txBody>
      </p:sp>
      <p:sp>
        <p:nvSpPr>
          <p:cNvPr id="15" name="pill-LIVE-246">
            <a:extLst xmlns:a="http://schemas.openxmlformats.org/drawingml/2006/main">
              <a:ext uri="{FF2B5EF4-FFF2-40B4-BE49-F238E27FC236}">
                <a16:creationId xmlns:a16="http://schemas.microsoft.com/office/drawing/2014/main" id="{08BAE942-12D1-4E2F-AA4B-8DBA4ADF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ill-text-LIVE-246">
            <a:extLst xmlns:a="http://schemas.openxmlformats.org/drawingml/2006/main">
              <a:ext uri="{FF2B5EF4-FFF2-40B4-BE49-F238E27FC236}">
                <a16:creationId xmlns:a16="http://schemas.microsoft.com/office/drawing/2014/main" id="{221A3350-186A-4371-A106-40950A50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17" name="dot-480-334">
            <a:extLst xmlns:a="http://schemas.openxmlformats.org/drawingml/2006/main">
              <a:ext uri="{FF2B5EF4-FFF2-40B4-BE49-F238E27FC236}">
                <a16:creationId xmlns:a16="http://schemas.microsoft.com/office/drawing/2014/main" id="{3A372E42-3C8D-4364-9851-B6BB050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9D5976F1-DCC2-4D21-B07A-25CC3FFB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03</a:t>
            </a:r>
          </a:p>
        </p:txBody>
      </p:sp>
      <p:sp>
        <p:nvSpPr>
          <p:cNvPr id="19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C0D088FC-C0DC-4D40-864A-E8E0D921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Configure</a:t>
            </a:r>
          </a:p>
        </p:txBody>
      </p:sp>
      <p:sp>
        <p:nvSpPr>
          <p:cNvPr id="20" name="journey-desc-2">
            <a:extLst xmlns:a="http://schemas.openxmlformats.org/drawingml/2006/main">
              <a:ext uri="{FF2B5EF4-FFF2-40B4-BE49-F238E27FC236}">
                <a16:creationId xmlns:a16="http://schemas.microsoft.com/office/drawing/2014/main" id="{31CB87BC-9A11-4001-BA64-4D292C87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Order, rounds, timer</a:t>
            </a:r>
          </a:p>
        </p:txBody>
      </p:sp>
      <p:sp>
        <p:nvSpPr>
          <p:cNvPr id="21" name="pill-LIVE-450">
            <a:extLst xmlns:a="http://schemas.openxmlformats.org/drawingml/2006/main">
              <a:ext uri="{FF2B5EF4-FFF2-40B4-BE49-F238E27FC236}">
                <a16:creationId xmlns:a16="http://schemas.microsoft.com/office/drawing/2014/main" id="{B1931F30-A641-454A-88BD-C4E8D98B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ll-text-LIVE-450">
            <a:extLst xmlns:a="http://schemas.openxmlformats.org/drawingml/2006/main">
              <a:ext uri="{FF2B5EF4-FFF2-40B4-BE49-F238E27FC236}">
                <a16:creationId xmlns:a16="http://schemas.microsoft.com/office/drawing/2014/main" id="{CAE5E9CD-BC52-4D63-811B-A64442C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23" name="dot-684-334">
            <a:extLst xmlns:a="http://schemas.openxmlformats.org/drawingml/2006/main">
              <a:ext uri="{FF2B5EF4-FFF2-40B4-BE49-F238E27FC236}">
                <a16:creationId xmlns:a16="http://schemas.microsoft.com/office/drawing/2014/main" id="{52B0B5DE-FE05-41EE-8200-7D025EA6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022DFEBC-5914-4DBB-A107-9BE3DDDB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04</a:t>
            </a:r>
          </a:p>
        </p:txBody>
      </p:sp>
      <p:sp>
        <p:nvSpPr>
          <p:cNvPr id="25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A0F823C6-D6E0-4A6E-A2A4-8ED1B6E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Gather</a:t>
            </a:r>
          </a:p>
        </p:txBody>
      </p:sp>
      <p:sp>
        <p:nvSpPr>
          <p:cNvPr id="26" name="journey-desc-3">
            <a:extLst xmlns:a="http://schemas.openxmlformats.org/drawingml/2006/main">
              <a:ext uri="{FF2B5EF4-FFF2-40B4-BE49-F238E27FC236}">
                <a16:creationId xmlns:a16="http://schemas.microsoft.com/office/drawing/2014/main" id="{5345CF29-8792-4DDD-8EA0-B473C799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Lobby and chat</a:t>
            </a:r>
          </a:p>
        </p:txBody>
      </p:sp>
      <p:sp>
        <p:nvSpPr>
          <p:cNvPr id="27" name="pill-LIVE-654">
            <a:extLst xmlns:a="http://schemas.openxmlformats.org/drawingml/2006/main">
              <a:ext uri="{FF2B5EF4-FFF2-40B4-BE49-F238E27FC236}">
                <a16:creationId xmlns:a16="http://schemas.microsoft.com/office/drawing/2014/main" id="{C2F10E3C-C7EC-4B01-A2B2-427FEFEB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ill-text-LIVE-654">
            <a:extLst xmlns:a="http://schemas.openxmlformats.org/drawingml/2006/main">
              <a:ext uri="{FF2B5EF4-FFF2-40B4-BE49-F238E27FC236}">
                <a16:creationId xmlns:a16="http://schemas.microsoft.com/office/drawing/2014/main" id="{EFA0A0D0-8D77-446F-A2D1-FAEFFE5D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29" name="dot-888-334">
            <a:extLst xmlns:a="http://schemas.openxmlformats.org/drawingml/2006/main">
              <a:ext uri="{FF2B5EF4-FFF2-40B4-BE49-F238E27FC236}">
                <a16:creationId xmlns:a16="http://schemas.microsoft.com/office/drawing/2014/main" id="{487528CD-F492-4EF1-B106-88D642D3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journey-num-4">
            <a:extLst xmlns:a="http://schemas.openxmlformats.org/drawingml/2006/main">
              <a:ext uri="{FF2B5EF4-FFF2-40B4-BE49-F238E27FC236}">
                <a16:creationId xmlns:a16="http://schemas.microsoft.com/office/drawing/2014/main" id="{2D457F7E-4551-4212-AEAF-C6912FBC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F84"/>
                </a:solidFill>
              </a:defRPr>
            </a:pPr>
            <a:r>
              <a:rPr sz="1200" b="1">
                <a:solidFill>
                  <a:srgbClr val="0F8F84"/>
                </a:solidFill>
              </a:rPr>
              <a:t>05</a:t>
            </a:r>
          </a:p>
        </p:txBody>
      </p:sp>
      <p:sp>
        <p:nvSpPr>
          <p:cNvPr id="31" name="journey-title-4">
            <a:extLst xmlns:a="http://schemas.openxmlformats.org/drawingml/2006/main">
              <a:ext uri="{FF2B5EF4-FFF2-40B4-BE49-F238E27FC236}">
                <a16:creationId xmlns:a16="http://schemas.microsoft.com/office/drawing/2014/main" id="{385B9DCD-2F06-4E42-8332-51C1C7A3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Draft</a:t>
            </a:r>
          </a:p>
        </p:txBody>
      </p:sp>
      <p:sp>
        <p:nvSpPr>
          <p:cNvPr id="32" name="journey-desc-4">
            <a:extLst xmlns:a="http://schemas.openxmlformats.org/drawingml/2006/main">
              <a:ext uri="{FF2B5EF4-FFF2-40B4-BE49-F238E27FC236}">
                <a16:creationId xmlns:a16="http://schemas.microsoft.com/office/drawing/2014/main" id="{12A568EA-E849-44A8-B51A-65381E49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Realtime picks + recovery</a:t>
            </a:r>
          </a:p>
        </p:txBody>
      </p:sp>
      <p:sp>
        <p:nvSpPr>
          <p:cNvPr id="33" name="pill-LIVE-858">
            <a:extLst xmlns:a="http://schemas.openxmlformats.org/drawingml/2006/main">
              <a:ext uri="{FF2B5EF4-FFF2-40B4-BE49-F238E27FC236}">
                <a16:creationId xmlns:a16="http://schemas.microsoft.com/office/drawing/2014/main" id="{0DEA13DB-48BF-4E48-A6E1-C63D2D0C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ill-text-LIVE-858">
            <a:extLst xmlns:a="http://schemas.openxmlformats.org/drawingml/2006/main">
              <a:ext uri="{FF2B5EF4-FFF2-40B4-BE49-F238E27FC236}">
                <a16:creationId xmlns:a16="http://schemas.microsoft.com/office/drawing/2014/main" id="{7A8E3266-B135-4AC2-A3C8-87269340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LIVE</a:t>
            </a:r>
          </a:p>
        </p:txBody>
      </p:sp>
      <p:sp>
        <p:nvSpPr>
          <p:cNvPr id="35" name="dot-1092-334">
            <a:extLst xmlns:a="http://schemas.openxmlformats.org/drawingml/2006/main">
              <a:ext uri="{FF2B5EF4-FFF2-40B4-BE49-F238E27FC236}">
                <a16:creationId xmlns:a16="http://schemas.microsoft.com/office/drawing/2014/main" id="{C83109E0-ADFF-45BB-800B-0AC0D89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journey-num-5">
            <a:extLst xmlns:a="http://schemas.openxmlformats.org/drawingml/2006/main">
              <a:ext uri="{FF2B5EF4-FFF2-40B4-BE49-F238E27FC236}">
                <a16:creationId xmlns:a16="http://schemas.microsoft.com/office/drawing/2014/main" id="{0083DBA2-8887-4E15-8261-89D2352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52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3616D"/>
                </a:solidFill>
              </a:defRPr>
            </a:pPr>
            <a:r>
              <a:rPr sz="1200" b="1">
                <a:solidFill>
                  <a:srgbClr val="53616D"/>
                </a:solidFill>
              </a:rPr>
              <a:t>06</a:t>
            </a:r>
          </a:p>
        </p:txBody>
      </p:sp>
      <p:sp>
        <p:nvSpPr>
          <p:cNvPr id="37" name="journey-title-5">
            <a:extLst xmlns:a="http://schemas.openxmlformats.org/drawingml/2006/main">
              <a:ext uri="{FF2B5EF4-FFF2-40B4-BE49-F238E27FC236}">
                <a16:creationId xmlns:a16="http://schemas.microsoft.com/office/drawing/2014/main" id="{666D0E01-C76B-413E-BA82-39072B66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86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Remember</a:t>
            </a:r>
          </a:p>
        </p:txBody>
      </p:sp>
      <p:sp>
        <p:nvSpPr>
          <p:cNvPr id="38" name="journey-desc-5">
            <a:extLst xmlns:a="http://schemas.openxmlformats.org/drawingml/2006/main">
              <a:ext uri="{FF2B5EF4-FFF2-40B4-BE49-F238E27FC236}">
                <a16:creationId xmlns:a16="http://schemas.microsoft.com/office/drawing/2014/main" id="{4E1D54D8-E80F-4387-9AD1-6395540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147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History and archives</a:t>
            </a:r>
          </a:p>
        </p:txBody>
      </p:sp>
      <p:sp>
        <p:nvSpPr>
          <p:cNvPr id="39" name="pill-PLANNED-1062">
            <a:extLst xmlns:a="http://schemas.openxmlformats.org/drawingml/2006/main">
              <a:ext uri="{FF2B5EF4-FFF2-40B4-BE49-F238E27FC236}">
                <a16:creationId xmlns:a16="http://schemas.microsoft.com/office/drawing/2014/main" id="{721A478B-53EB-4CA1-BDE5-7CD4B9B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67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ill-text-PLANNED-1062">
            <a:extLst xmlns:a="http://schemas.openxmlformats.org/drawingml/2006/main">
              <a:ext uri="{FF2B5EF4-FFF2-40B4-BE49-F238E27FC236}">
                <a16:creationId xmlns:a16="http://schemas.microsoft.com/office/drawing/2014/main" id="{BFB2993B-5976-4997-B18A-DEA869FF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863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PLANNED</a:t>
            </a:r>
          </a:p>
        </p:txBody>
      </p:sp>
      <p:sp>
        <p:nvSpPr>
          <p:cNvPr id="41" name="journey-note">
            <a:extLst xmlns:a="http://schemas.openxmlformats.org/drawingml/2006/main">
              <a:ext uri="{FF2B5EF4-FFF2-40B4-BE49-F238E27FC236}">
                <a16:creationId xmlns:a16="http://schemas.microsoft.com/office/drawing/2014/main" id="{BAC3814D-CA47-485E-822A-1E6E4181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The core journey now reaches a completed draft. The next chapter is everything that happens after it.</a:t>
            </a:r>
          </a:p>
        </p:txBody>
      </p:sp>
    </p:spTree>
    <p:extLst>
      <p:ext uri="{BB962C8B-B14F-4D97-AF65-F5344CB8AC3E}">
        <p14:creationId xmlns:p14="http://schemas.microsoft.com/office/powerpoint/2010/main" val="1683177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F4CB85E1-5E7B-49BA-8B71-D56F0E8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04</a:t>
            </a:r>
          </a:p>
        </p:txBody>
      </p:sp>
      <p:sp>
        <p:nvSpPr>
          <p:cNvPr id="32" name="dash-callout">
            <a:extLst xmlns:a="http://schemas.openxmlformats.org/drawingml/2006/main">
              <a:ext uri="{FF2B5EF4-FFF2-40B4-BE49-F238E27FC236}">
                <a16:creationId xmlns:a16="http://schemas.microsoft.com/office/drawing/2014/main" id="{913E2E5B-FE83-468D-82B5-AB7A1339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The front door</a:t>
            </a:r>
          </a:p>
        </p:txBody>
      </p:sp>
      <p:sp>
        <p:nvSpPr>
          <p:cNvPr id="33" name="dash-copy">
            <a:extLst xmlns:a="http://schemas.openxmlformats.org/drawingml/2006/main">
              <a:ext uri="{FF2B5EF4-FFF2-40B4-BE49-F238E27FC236}">
                <a16:creationId xmlns:a16="http://schemas.microsoft.com/office/drawing/2014/main" id="{B2FFE50C-838B-4927-8563-15C3382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Authenticated users see every league workspace, draft status, and next action in one place.</a:t>
            </a:r>
          </a:p>
        </p:txBody>
      </p:sp>
      <p:sp>
        <p:nvSpPr>
          <p:cNvPr id="34" name="pill-SHIPPED-920">
            <a:extLst xmlns:a="http://schemas.openxmlformats.org/drawingml/2006/main">
              <a:ext uri="{FF2B5EF4-FFF2-40B4-BE49-F238E27FC236}">
                <a16:creationId xmlns:a16="http://schemas.microsoft.com/office/drawing/2014/main" id="{CFD557D2-6824-4EE7-B1B3-4FAED1AA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095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ill-text-SHIPPED-920">
            <a:extLst xmlns:a="http://schemas.openxmlformats.org/drawingml/2006/main">
              <a:ext uri="{FF2B5EF4-FFF2-40B4-BE49-F238E27FC236}">
                <a16:creationId xmlns:a16="http://schemas.microsoft.com/office/drawing/2014/main" id="{29BFA02C-A99D-4EE4-8418-02B50F6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SHIPPED</a:t>
            </a:r>
          </a:p>
        </p:txBody>
      </p:sp>
      <p:sp>
        <p:nvSpPr>
          <p:cNvPr id="36" name="dash-list">
            <a:extLst xmlns:a="http://schemas.openxmlformats.org/drawingml/2006/main">
              <a:ext uri="{FF2B5EF4-FFF2-40B4-BE49-F238E27FC236}">
                <a16:creationId xmlns:a16="http://schemas.microsoft.com/office/drawing/2014/main" id="{401CFB89-D067-4C83-8D66-3A8B431C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3862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7111F"/>
                </a:solidFill>
              </a:defRPr>
            </a:pPr>
            <a:r>
              <a:rPr sz="1350" b="0">
                <a:solidFill>
                  <a:srgbClr val="07111F"/>
                </a:solidFill>
              </a:rPr>
              <a:t>• Persistent accounts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7111F"/>
                </a:solidFill>
              </a:defRPr>
            </a:pPr>
            <a:r>
              <a:rPr sz="1350" b="0">
                <a:solidFill>
                  <a:srgbClr val="07111F"/>
                </a:solidFill>
              </a:rPr>
              <a:t>• League status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7111F"/>
                </a:solidFill>
              </a:defRPr>
            </a:pPr>
            <a:r>
              <a:rPr sz="1350" b="0">
                <a:solidFill>
                  <a:srgbClr val="07111F"/>
                </a:solidFill>
              </a:rPr>
              <a:t>• Create or join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7111F"/>
                </a:solidFill>
              </a:defRPr>
            </a:pPr>
            <a:r>
              <a:rPr sz="1350" b="0">
                <a:solidFill>
                  <a:srgbClr val="07111F"/>
                </a:solidFill>
              </a:rPr>
              <a:t>• Direct workspace entry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02f707a4d49c6"/>
          <a:stretch xmlns:a="http://schemas.openxmlformats.org/drawingml/2006/main"/>
        </p:blipFill>
        <p:spPr>
          <a:xfrm xmlns:a="http://schemas.openxmlformats.org/drawingml/2006/main">
            <a:off x="400050" y="1786231"/>
            <a:ext cx="7810500" cy="3857037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E48D1D-D946-4CA7-BE11-7C9087DD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8F87"/>
                </a:solidFill>
              </a:defRPr>
            </a:pPr>
            <a:r>
              <a:rPr sz="825" b="1">
                <a:solidFill>
                  <a:srgbClr val="008F87"/>
                </a:solidFill>
              </a:rPr>
              <a:t>PRODUCT 1 OF 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EF7E8B-645D-471B-BF23-DF7244C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525"/>
                </a:solidFill>
              </a:defRPr>
            </a:pPr>
            <a:r>
              <a:rPr sz="2400" b="1">
                <a:solidFill>
                  <a:srgbClr val="071525"/>
                </a:solidFill>
              </a:rPr>
              <a:t>Current state: dashboard</a:t>
            </a:r>
          </a:p>
        </p:txBody>
      </p:sp>
    </p:spTree>
    <p:extLst>
      <p:ext uri="{BB962C8B-B14F-4D97-AF65-F5344CB8AC3E}">
        <p14:creationId xmlns:p14="http://schemas.microsoft.com/office/powerpoint/2010/main" val="279638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5">
            <a:extLst xmlns:a="http://schemas.openxmlformats.org/drawingml/2006/main">
              <a:ext uri="{FF2B5EF4-FFF2-40B4-BE49-F238E27FC236}">
                <a16:creationId xmlns:a16="http://schemas.microsoft.com/office/drawing/2014/main" id="{AC5BA165-955B-4CE0-90EF-06CFCBF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PRODUCT 2 OF 7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14EE3DA-B955-48AE-AF96-A64D9C6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league workspace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261BABA1-5EC3-4E20-B8C6-4CB12731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05</a:t>
            </a:r>
          </a:p>
        </p:txBody>
      </p:sp>
      <p:sp>
        <p:nvSpPr>
          <p:cNvPr id="30" name="workspace-callout">
            <a:extLst xmlns:a="http://schemas.openxmlformats.org/drawingml/2006/main">
              <a:ext uri="{FF2B5EF4-FFF2-40B4-BE49-F238E27FC236}">
                <a16:creationId xmlns:a16="http://schemas.microsoft.com/office/drawing/2014/main" id="{21BC12E9-18EB-4F1A-AB18-0AD9BE94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The operating home</a:t>
            </a:r>
          </a:p>
        </p:txBody>
      </p:sp>
      <p:sp>
        <p:nvSpPr>
          <p:cNvPr id="31" name="workspace-copy">
            <a:extLst xmlns:a="http://schemas.openxmlformats.org/drawingml/2006/main">
              <a:ext uri="{FF2B5EF4-FFF2-40B4-BE49-F238E27FC236}">
                <a16:creationId xmlns:a16="http://schemas.microsoft.com/office/drawing/2014/main" id="{E04B68C8-C321-4A0D-B625-517EC3E6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Branding, membership, teams, seasons, and draft access are now organized around a persistent league identity.</a:t>
            </a:r>
          </a:p>
        </p:txBody>
      </p:sp>
      <p:sp>
        <p:nvSpPr>
          <p:cNvPr id="32" name="pill-SHIPPED-920">
            <a:extLst xmlns:a="http://schemas.openxmlformats.org/drawingml/2006/main">
              <a:ext uri="{FF2B5EF4-FFF2-40B4-BE49-F238E27FC236}">
                <a16:creationId xmlns:a16="http://schemas.microsoft.com/office/drawing/2014/main" id="{DCD675D3-EFC8-4794-B09A-4EDC1AB0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1095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ill-text-SHIPPED-920">
            <a:extLst xmlns:a="http://schemas.openxmlformats.org/drawingml/2006/main">
              <a:ext uri="{FF2B5EF4-FFF2-40B4-BE49-F238E27FC236}">
                <a16:creationId xmlns:a16="http://schemas.microsoft.com/office/drawing/2014/main" id="{1F354615-7EEB-4683-840D-288CBE1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SHIPPED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32896c4f3432d"/>
          <a:stretch xmlns:a="http://schemas.openxmlformats.org/drawingml/2006/main"/>
        </p:blipFill>
        <p:spPr>
          <a:xfrm xmlns:a="http://schemas.openxmlformats.org/drawingml/2006/main">
            <a:off x="400050" y="1858729"/>
            <a:ext cx="7810500" cy="3712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563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6">
            <a:extLst xmlns:a="http://schemas.openxmlformats.org/drawingml/2006/main">
              <a:ext uri="{FF2B5EF4-FFF2-40B4-BE49-F238E27FC236}">
                <a16:creationId xmlns:a16="http://schemas.microsoft.com/office/drawing/2014/main" id="{1F246690-01F7-469F-BFBC-2849F98C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PRODUCT 3 OF 7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1CEECE1-8BF5-4B09-9C59-E8FF2527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teams and ownership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35924CF9-3BA2-46CA-8817-C39A1328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06</a:t>
            </a:r>
          </a:p>
        </p:txBody>
      </p:sp>
      <p:sp>
        <p:nvSpPr>
          <p:cNvPr id="36" name="teams-callout">
            <a:extLst xmlns:a="http://schemas.openxmlformats.org/drawingml/2006/main">
              <a:ext uri="{FF2B5EF4-FFF2-40B4-BE49-F238E27FC236}">
                <a16:creationId xmlns:a16="http://schemas.microsoft.com/office/drawing/2014/main" id="{BF4C4C62-1CE1-4449-AA87-FECC833E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Ownership is durable</a:t>
            </a:r>
          </a:p>
        </p:txBody>
      </p:sp>
      <p:sp>
        <p:nvSpPr>
          <p:cNvPr id="37" name="teams-copy">
            <a:extLst xmlns:a="http://schemas.openxmlformats.org/drawingml/2006/main">
              <a:ext uri="{FF2B5EF4-FFF2-40B4-BE49-F238E27FC236}">
                <a16:creationId xmlns:a16="http://schemas.microsoft.com/office/drawing/2014/main" id="{80F2FD86-3C0F-4386-9247-3D5E7BC7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Commissioners manage franchises and assign owners once. Those assignments materialize into setup-phase draft slots automatically.</a:t>
            </a:r>
          </a:p>
        </p:txBody>
      </p:sp>
      <p:sp>
        <p:nvSpPr>
          <p:cNvPr id="38" name="teams-benefit">
            <a:extLst xmlns:a="http://schemas.openxmlformats.org/drawingml/2006/main">
              <a:ext uri="{FF2B5EF4-FFF2-40B4-BE49-F238E27FC236}">
                <a16:creationId xmlns:a16="http://schemas.microsoft.com/office/drawing/2014/main" id="{DC67B981-D8D5-4C3B-BFDF-572163E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Less draft-night admin. Fewer wrong-owner mistakes.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9f37d576743ad"/>
          <a:stretch xmlns:a="http://schemas.openxmlformats.org/drawingml/2006/main"/>
        </p:blipFill>
        <p:spPr>
          <a:xfrm xmlns:a="http://schemas.openxmlformats.org/drawingml/2006/main">
            <a:off x="400050" y="1614276"/>
            <a:ext cx="7810500" cy="42009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46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50C40863-22D1-4C33-A51B-503ACCDB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07</a:t>
            </a:r>
          </a:p>
        </p:txBody>
      </p:sp>
      <p:sp>
        <p:nvSpPr>
          <p:cNvPr id="33" name="setup-callout">
            <a:extLst xmlns:a="http://schemas.openxmlformats.org/drawingml/2006/main">
              <a:ext uri="{FF2B5EF4-FFF2-40B4-BE49-F238E27FC236}">
                <a16:creationId xmlns:a16="http://schemas.microsoft.com/office/drawing/2014/main" id="{7BD625F8-5580-46D8-A353-0F2BAFE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One control surface</a:t>
            </a:r>
          </a:p>
        </p:txBody>
      </p:sp>
      <p:sp>
        <p:nvSpPr>
          <p:cNvPr id="34" name="setup-copy">
            <a:extLst xmlns:a="http://schemas.openxmlformats.org/drawingml/2006/main">
              <a:ext uri="{FF2B5EF4-FFF2-40B4-BE49-F238E27FC236}">
                <a16:creationId xmlns:a16="http://schemas.microsoft.com/office/drawing/2014/main" id="{11CFFC33-F26B-44D9-A7BA-EEEC5B84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Timer behavior, scoring, schedule, roster positions, team profiles, invitations, and draft order live together.</a:t>
            </a:r>
          </a:p>
        </p:txBody>
      </p:sp>
      <p:sp>
        <p:nvSpPr>
          <p:cNvPr id="35" name="setup-warning">
            <a:extLst xmlns:a="http://schemas.openxmlformats.org/drawingml/2006/main">
              <a:ext uri="{FF2B5EF4-FFF2-40B4-BE49-F238E27FC236}">
                <a16:creationId xmlns:a16="http://schemas.microsoft.com/office/drawing/2014/main" id="{1CB7C7A0-0B03-40E7-A797-A56146D9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762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tup-warning-title">
            <a:extLst xmlns:a="http://schemas.openxmlformats.org/drawingml/2006/main">
              <a:ext uri="{FF2B5EF4-FFF2-40B4-BE49-F238E27FC236}">
                <a16:creationId xmlns:a16="http://schemas.microsoft.com/office/drawing/2014/main" id="{236EDBEC-83D4-4521-BC13-AC693D3C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481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9A27"/>
                </a:solidFill>
              </a:defRPr>
            </a:pPr>
            <a:r>
              <a:rPr sz="1200" b="1">
                <a:solidFill>
                  <a:srgbClr val="E29A27"/>
                </a:solidFill>
              </a:rPr>
              <a:t>Stabilization focus</a:t>
            </a:r>
          </a:p>
        </p:txBody>
      </p:sp>
      <p:sp>
        <p:nvSpPr>
          <p:cNvPr id="37" name="setup-warning-copy">
            <a:extLst xmlns:a="http://schemas.openxmlformats.org/drawingml/2006/main">
              <a:ext uri="{FF2B5EF4-FFF2-40B4-BE49-F238E27FC236}">
                <a16:creationId xmlns:a16="http://schemas.microsoft.com/office/drawing/2014/main" id="{84A8E742-797A-4A35-B12E-21F6E7A5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434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Move every setup write behind atomic, commissioner-authorized database operations.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815c8b1cb41c8"/>
          <a:stretch xmlns:a="http://schemas.openxmlformats.org/drawingml/2006/main"/>
        </p:blipFill>
        <p:spPr>
          <a:xfrm xmlns:a="http://schemas.openxmlformats.org/drawingml/2006/main">
            <a:off x="400050" y="1811333"/>
            <a:ext cx="7810500" cy="3806834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21F261-17E5-4773-871F-F1A33C44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8F87"/>
                </a:solidFill>
              </a:defRPr>
            </a:pPr>
            <a:r>
              <a:rPr sz="825" b="1">
                <a:solidFill>
                  <a:srgbClr val="008F87"/>
                </a:solidFill>
              </a:rPr>
              <a:t>PRODUCT 4 OF 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113EA1-BC78-4166-ACE5-C276CF0B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525"/>
                </a:solidFill>
              </a:defRPr>
            </a:pPr>
            <a:r>
              <a:rPr sz="2400" b="1">
                <a:solidFill>
                  <a:srgbClr val="071525"/>
                </a:solidFill>
              </a:rPr>
              <a:t>Current state: draft setup</a:t>
            </a:r>
          </a:p>
        </p:txBody>
      </p:sp>
    </p:spTree>
    <p:extLst>
      <p:ext uri="{BB962C8B-B14F-4D97-AF65-F5344CB8AC3E}">
        <p14:creationId xmlns:p14="http://schemas.microsoft.com/office/powerpoint/2010/main" val="1550893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8">
            <a:extLst xmlns:a="http://schemas.openxmlformats.org/drawingml/2006/main">
              <a:ext uri="{FF2B5EF4-FFF2-40B4-BE49-F238E27FC236}">
                <a16:creationId xmlns:a16="http://schemas.microsoft.com/office/drawing/2014/main" id="{7DD5806E-20D2-46F9-B0AA-D7128E35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PRODUCT 5 OF 7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40526F2-2116-4100-BCEB-59A00747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pre-draft lobby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8D609931-FFF6-44BB-A382-F239BCF6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08</a:t>
            </a:r>
          </a:p>
        </p:txBody>
      </p:sp>
      <p:sp>
        <p:nvSpPr>
          <p:cNvPr id="36" name="lobby-callout">
            <a:extLst xmlns:a="http://schemas.openxmlformats.org/drawingml/2006/main">
              <a:ext uri="{FF2B5EF4-FFF2-40B4-BE49-F238E27FC236}">
                <a16:creationId xmlns:a16="http://schemas.microsoft.com/office/drawing/2014/main" id="{86852F97-9002-4EED-AC76-EFC960F1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A calmer start</a:t>
            </a:r>
          </a:p>
        </p:txBody>
      </p:sp>
      <p:sp>
        <p:nvSpPr>
          <p:cNvPr id="37" name="lobby-copy">
            <a:extLst xmlns:a="http://schemas.openxmlformats.org/drawingml/2006/main">
              <a:ext uri="{FF2B5EF4-FFF2-40B4-BE49-F238E27FC236}">
                <a16:creationId xmlns:a16="http://schemas.microsoft.com/office/drawing/2014/main" id="{9858FE70-1A4D-4B03-BAEE-1048741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Presence, team ownership, countdown, and realtime chat give commissioners confidence before the first pick.</a:t>
            </a:r>
          </a:p>
        </p:txBody>
      </p:sp>
      <p:sp>
        <p:nvSpPr>
          <p:cNvPr id="38" name="pill-REALTIME-920">
            <a:extLst xmlns:a="http://schemas.openxmlformats.org/drawingml/2006/main">
              <a:ext uri="{FF2B5EF4-FFF2-40B4-BE49-F238E27FC236}">
                <a16:creationId xmlns:a16="http://schemas.microsoft.com/office/drawing/2014/main" id="{10CFF6D5-0424-4A6D-A47C-24233DC9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ill-text-REALTIME-920">
            <a:extLst xmlns:a="http://schemas.openxmlformats.org/drawingml/2006/main">
              <a:ext uri="{FF2B5EF4-FFF2-40B4-BE49-F238E27FC236}">
                <a16:creationId xmlns:a16="http://schemas.microsoft.com/office/drawing/2014/main" id="{C17C0D9B-E590-4A3B-9968-7317883D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95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REALTIME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d0971ddee4876"/>
          <a:stretch xmlns:a="http://schemas.openxmlformats.org/drawingml/2006/main"/>
        </p:blipFill>
        <p:spPr>
          <a:xfrm xmlns:a="http://schemas.openxmlformats.org/drawingml/2006/main">
            <a:off x="400050" y="1534081"/>
            <a:ext cx="7810500" cy="436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13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C5A39C93-AA85-4F13-AE66-565C7CBA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09</a:t>
            </a:r>
          </a:p>
        </p:txBody>
      </p:sp>
      <p:sp>
        <p:nvSpPr>
          <p:cNvPr id="92" name="draft-callout">
            <a:extLst xmlns:a="http://schemas.openxmlformats.org/drawingml/2006/main">
              <a:ext uri="{FF2B5EF4-FFF2-40B4-BE49-F238E27FC236}">
                <a16:creationId xmlns:a16="http://schemas.microsoft.com/office/drawing/2014/main" id="{5A430C4D-591E-442A-AEDF-D67709A1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The core product</a:t>
            </a:r>
          </a:p>
        </p:txBody>
      </p:sp>
      <p:sp>
        <p:nvSpPr>
          <p:cNvPr id="93" name="draft-copy">
            <a:extLst xmlns:a="http://schemas.openxmlformats.org/drawingml/2006/main">
              <a:ext uri="{FF2B5EF4-FFF2-40B4-BE49-F238E27FC236}">
                <a16:creationId xmlns:a16="http://schemas.microsoft.com/office/drawing/2014/main" id="{0E22F47D-23EF-406A-BA1C-41E7B768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Atomic picks, wrong-owner protection, synchronized timer, pause/resume, undo, commissioner recovery, and reconnect reconciliation.</a:t>
            </a:r>
          </a:p>
        </p:txBody>
      </p:sp>
      <p:sp>
        <p:nvSpPr>
          <p:cNvPr id="94" name="pill-MULTIPLAYER-950">
            <a:extLst xmlns:a="http://schemas.openxmlformats.org/drawingml/2006/main">
              <a:ext uri="{FF2B5EF4-FFF2-40B4-BE49-F238E27FC236}">
                <a16:creationId xmlns:a16="http://schemas.microsoft.com/office/drawing/2014/main" id="{F9C1EBE8-3724-49CC-A4B8-866E88CF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33875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ill-text-MULTIPLAYER-950">
            <a:extLst xmlns:a="http://schemas.openxmlformats.org/drawingml/2006/main">
              <a:ext uri="{FF2B5EF4-FFF2-40B4-BE49-F238E27FC236}">
                <a16:creationId xmlns:a16="http://schemas.microsoft.com/office/drawing/2014/main" id="{6A814FBE-B5DE-46C5-9F8F-224A3C36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5292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MULTIPLAYER</a:t>
            </a:r>
          </a:p>
        </p:txBody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654d7a45349e8"/>
          <a:srcRect xmlns:a="http://schemas.openxmlformats.org/drawingml/2006/main" l="0" t="60" r="0" b="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924050"/>
            <a:ext cx="7810500" cy="3571875"/>
          </a:xfrm>
          <a:prstGeom xmlns:a="http://schemas.openxmlformats.org/drawingml/2006/main" prst="rect">
            <a:avLst/>
          </a:prstGeom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097A6E-E0C7-46B6-A266-358C4CF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8F87"/>
                </a:solidFill>
              </a:defRPr>
            </a:pPr>
            <a:r>
              <a:rPr sz="825" b="1">
                <a:solidFill>
                  <a:srgbClr val="008F87"/>
                </a:solidFill>
              </a:rPr>
              <a:t>PRODUCT 6 OF 7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FEE272C-14D1-45A2-9BBD-4DB2332F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525"/>
                </a:solidFill>
              </a:defRPr>
            </a:pPr>
            <a:r>
              <a:rPr sz="2400" b="1">
                <a:solidFill>
                  <a:srgbClr val="071525"/>
                </a:solidFill>
              </a:rPr>
              <a:t>Current state: live draft room</a:t>
            </a:r>
          </a:p>
        </p:txBody>
      </p:sp>
    </p:spTree>
    <p:extLst>
      <p:ext uri="{BB962C8B-B14F-4D97-AF65-F5344CB8AC3E}">
        <p14:creationId xmlns:p14="http://schemas.microsoft.com/office/powerpoint/2010/main" val="1395158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0">
            <a:extLst xmlns:a="http://schemas.openxmlformats.org/drawingml/2006/main">
              <a:ext uri="{FF2B5EF4-FFF2-40B4-BE49-F238E27FC236}">
                <a16:creationId xmlns:a16="http://schemas.microsoft.com/office/drawing/2014/main" id="{3B8C66F8-9A79-4A7B-BFD0-95E55A8B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PRODUCT 7 OF 7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C6D19A2-971B-4513-9153-8DDF5334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Current state: pick reveal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B6C8D0B8-87DD-4DA3-8725-B8E231A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10</a:t>
            </a:r>
          </a:p>
        </p:txBody>
      </p:sp>
      <p:sp>
        <p:nvSpPr>
          <p:cNvPr id="27" name="mobile-title">
            <a:extLst xmlns:a="http://schemas.openxmlformats.org/drawingml/2006/main">
              <a:ext uri="{FF2B5EF4-FFF2-40B4-BE49-F238E27FC236}">
                <a16:creationId xmlns:a16="http://schemas.microsoft.com/office/drawing/2014/main" id="{A43F1AA8-6943-45CF-8905-42A7847B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Every pick gets a shared moment</a:t>
            </a:r>
          </a:p>
        </p:txBody>
      </p:sp>
      <p:sp>
        <p:nvSpPr>
          <p:cNvPr id="28" name="promise-n-0">
            <a:extLst xmlns:a="http://schemas.openxmlformats.org/drawingml/2006/main">
              <a:ext uri="{FF2B5EF4-FFF2-40B4-BE49-F238E27FC236}">
                <a16:creationId xmlns:a16="http://schemas.microsoft.com/office/drawing/2014/main" id="{97A11F04-B467-42D2-98E6-0FD1AEBF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01</a:t>
            </a:r>
          </a:p>
        </p:txBody>
      </p:sp>
      <p:sp>
        <p:nvSpPr>
          <p:cNvPr id="29" name="promise-t-0">
            <a:extLst xmlns:a="http://schemas.openxmlformats.org/drawingml/2006/main">
              <a:ext uri="{FF2B5EF4-FFF2-40B4-BE49-F238E27FC236}">
                <a16:creationId xmlns:a16="http://schemas.microsoft.com/office/drawing/2014/main" id="{960416F6-0548-47F3-BBBC-BFBB8205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Announce the selection</a:t>
            </a:r>
          </a:p>
        </p:txBody>
      </p:sp>
      <p:cxnSp>
        <p:nvCxnSpPr>
          <p:cNvPr id="117" name="rule-600-354"/>
          <p:cNvCxnSpPr/>
          <p:nvPr/>
        </p:nvCxnSpPr>
        <p:spPr>
          <a:xfrm xmlns:a="http://schemas.openxmlformats.org/drawingml/2006/main">
            <a:off x="5715000" y="33718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5CDD3"/>
            </a:solidFill>
            <a:prstDash val="solid"/>
          </a:ln>
        </p:spPr>
      </p:cxnSp>
      <p:sp>
        <p:nvSpPr>
          <p:cNvPr id="31" name="promise-n-1">
            <a:extLst xmlns:a="http://schemas.openxmlformats.org/drawingml/2006/main">
              <a:ext uri="{FF2B5EF4-FFF2-40B4-BE49-F238E27FC236}">
                <a16:creationId xmlns:a16="http://schemas.microsoft.com/office/drawing/2014/main" id="{5902F0CB-0D8A-4E3F-8B75-7343B0D6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02</a:t>
            </a:r>
          </a:p>
        </p:txBody>
      </p:sp>
      <p:sp>
        <p:nvSpPr>
          <p:cNvPr id="32" name="promise-t-1">
            <a:extLst xmlns:a="http://schemas.openxmlformats.org/drawingml/2006/main">
              <a:ext uri="{FF2B5EF4-FFF2-40B4-BE49-F238E27FC236}">
                <a16:creationId xmlns:a16="http://schemas.microsoft.com/office/drawing/2014/main" id="{0139D3EC-0F8C-49FF-AC5D-79942BE3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66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Show the player and team</a:t>
            </a:r>
          </a:p>
        </p:txBody>
      </p:sp>
      <p:cxnSp>
        <p:nvCxnSpPr>
          <p:cNvPr id="120" name="rule-600-444"/>
          <p:cNvCxnSpPr/>
          <p:nvPr/>
        </p:nvCxnSpPr>
        <p:spPr>
          <a:xfrm xmlns:a="http://schemas.openxmlformats.org/drawingml/2006/main">
            <a:off x="5715000" y="422910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5CDD3"/>
            </a:solidFill>
            <a:prstDash val="solid"/>
          </a:ln>
        </p:spPr>
      </p:cxnSp>
      <p:sp>
        <p:nvSpPr>
          <p:cNvPr id="34" name="promise-n-2">
            <a:extLst xmlns:a="http://schemas.openxmlformats.org/drawingml/2006/main">
              <a:ext uri="{FF2B5EF4-FFF2-40B4-BE49-F238E27FC236}">
                <a16:creationId xmlns:a16="http://schemas.microsoft.com/office/drawing/2014/main" id="{5B36A464-6466-4743-B533-8CFB611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8F84"/>
                </a:solidFill>
              </a:defRPr>
            </a:pPr>
            <a:r>
              <a:rPr sz="1500" b="1">
                <a:solidFill>
                  <a:srgbClr val="0F8F84"/>
                </a:solidFill>
              </a:rPr>
              <a:t>03</a:t>
            </a:r>
          </a:p>
        </p:txBody>
      </p:sp>
      <p:sp>
        <p:nvSpPr>
          <p:cNvPr id="35" name="promise-t-2">
            <a:extLst xmlns:a="http://schemas.openxmlformats.org/drawingml/2006/main">
              <a:ext uri="{FF2B5EF4-FFF2-40B4-BE49-F238E27FC236}">
                <a16:creationId xmlns:a16="http://schemas.microsoft.com/office/drawing/2014/main" id="{BD9D3654-DF99-44F0-AE4D-1D6040E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33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Move everyone to the next clock</a:t>
            </a:r>
          </a:p>
        </p:txBody>
      </p:sp>
      <p:cxnSp>
        <p:nvCxnSpPr>
          <p:cNvPr id="123" name="rule-600-534"/>
          <p:cNvCxnSpPr/>
          <p:nvPr/>
        </p:nvCxnSpPr>
        <p:spPr>
          <a:xfrm xmlns:a="http://schemas.openxmlformats.org/drawingml/2006/main">
            <a:off x="5715000" y="50863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5CDD3"/>
            </a:solidFill>
            <a:prstDash val="solid"/>
          </a:ln>
        </p:spPr>
      </p:cxnSp>
      <p:sp>
        <p:nvSpPr>
          <p:cNvPr id="37" name="mobile-note">
            <a:extLst xmlns:a="http://schemas.openxmlformats.org/drawingml/2006/main">
              <a:ext uri="{FF2B5EF4-FFF2-40B4-BE49-F238E27FC236}">
                <a16:creationId xmlns:a16="http://schemas.microsoft.com/office/drawing/2014/main" id="{9BAA9B86-5725-4B76-B003-6DEEFA21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A polished reveal turns database state into draft-night theater.</a:t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7bbff660a41ce"/>
          <a:stretch xmlns:a="http://schemas.openxmlformats.org/drawingml/2006/main"/>
        </p:blipFill>
        <p:spPr>
          <a:xfrm xmlns:a="http://schemas.openxmlformats.org/drawingml/2006/main">
            <a:off x="400050" y="2228379"/>
            <a:ext cx="4095750" cy="31156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45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1">
            <a:extLst xmlns:a="http://schemas.openxmlformats.org/drawingml/2006/main">
              <a:ext uri="{FF2B5EF4-FFF2-40B4-BE49-F238E27FC236}">
                <a16:creationId xmlns:a16="http://schemas.microsoft.com/office/drawing/2014/main" id="{E80E3720-B8ED-4645-95B6-047959AE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CAPABILITY MAP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6539DA50-7765-4FEF-8243-088BF860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What has shipped so far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0732ECD8-0400-4480-827E-1CDEE277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11</a:t>
            </a:r>
          </a:p>
        </p:txBody>
      </p:sp>
      <p:sp>
        <p:nvSpPr>
          <p:cNvPr id="4" name="cap-0">
            <a:extLst xmlns:a="http://schemas.openxmlformats.org/drawingml/2006/main">
              <a:ext uri="{FF2B5EF4-FFF2-40B4-BE49-F238E27FC236}">
                <a16:creationId xmlns:a16="http://schemas.microsoft.com/office/drawing/2014/main" id="{E420E890-3E9D-44B7-B67E-1D2A122C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p-title-0">
            <a:extLst xmlns:a="http://schemas.openxmlformats.org/drawingml/2006/main">
              <a:ext uri="{FF2B5EF4-FFF2-40B4-BE49-F238E27FC236}">
                <a16:creationId xmlns:a16="http://schemas.microsoft.com/office/drawing/2014/main" id="{BB1B60F5-609D-4760-B65E-8C80D6C0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Multiplayer core</a:t>
            </a:r>
          </a:p>
        </p:txBody>
      </p:sp>
      <p:sp>
        <p:nvSpPr>
          <p:cNvPr id="6" name="dot-68-284">
            <a:extLst xmlns:a="http://schemas.openxmlformats.org/drawingml/2006/main">
              <a:ext uri="{FF2B5EF4-FFF2-40B4-BE49-F238E27FC236}">
                <a16:creationId xmlns:a16="http://schemas.microsoft.com/office/drawing/2014/main" id="{642B30AA-0279-48F1-AB1C-DD380B2C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p-item-0-0">
            <a:extLst xmlns:a="http://schemas.openxmlformats.org/drawingml/2006/main">
              <a:ext uri="{FF2B5EF4-FFF2-40B4-BE49-F238E27FC236}">
                <a16:creationId xmlns:a16="http://schemas.microsoft.com/office/drawing/2014/main" id="{19761F67-AEC4-4C0D-8EAC-E9B9708F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Realtime room updates</a:t>
            </a:r>
          </a:p>
        </p:txBody>
      </p:sp>
      <p:sp>
        <p:nvSpPr>
          <p:cNvPr id="8" name="dot-68-332">
            <a:extLst xmlns:a="http://schemas.openxmlformats.org/drawingml/2006/main">
              <a:ext uri="{FF2B5EF4-FFF2-40B4-BE49-F238E27FC236}">
                <a16:creationId xmlns:a16="http://schemas.microsoft.com/office/drawing/2014/main" id="{AFD70919-8925-4423-AF07-D64DDA91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p-item-0-1">
            <a:extLst xmlns:a="http://schemas.openxmlformats.org/drawingml/2006/main">
              <a:ext uri="{FF2B5EF4-FFF2-40B4-BE49-F238E27FC236}">
                <a16:creationId xmlns:a16="http://schemas.microsoft.com/office/drawing/2014/main" id="{563E5D81-24F7-4179-A1D2-6B0D494A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Atomic picks</a:t>
            </a:r>
          </a:p>
        </p:txBody>
      </p:sp>
      <p:sp>
        <p:nvSpPr>
          <p:cNvPr id="10" name="dot-68-380">
            <a:extLst xmlns:a="http://schemas.openxmlformats.org/drawingml/2006/main">
              <a:ext uri="{FF2B5EF4-FFF2-40B4-BE49-F238E27FC236}">
                <a16:creationId xmlns:a16="http://schemas.microsoft.com/office/drawing/2014/main" id="{3467430A-8C16-4B92-8D1F-7B8897D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-item-0-2">
            <a:extLst xmlns:a="http://schemas.openxmlformats.org/drawingml/2006/main">
              <a:ext uri="{FF2B5EF4-FFF2-40B4-BE49-F238E27FC236}">
                <a16:creationId xmlns:a16="http://schemas.microsoft.com/office/drawing/2014/main" id="{4DC6BB6F-90C6-4C59-8CFF-129C4D23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Reconnect recovery</a:t>
            </a:r>
          </a:p>
        </p:txBody>
      </p:sp>
      <p:sp>
        <p:nvSpPr>
          <p:cNvPr id="12" name="dot-68-428">
            <a:extLst xmlns:a="http://schemas.openxmlformats.org/drawingml/2006/main">
              <a:ext uri="{FF2B5EF4-FFF2-40B4-BE49-F238E27FC236}">
                <a16:creationId xmlns:a16="http://schemas.microsoft.com/office/drawing/2014/main" id="{E15CBF11-E95E-4D21-8594-04C0DD55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item-0-3">
            <a:extLst xmlns:a="http://schemas.openxmlformats.org/drawingml/2006/main">
              <a:ext uri="{FF2B5EF4-FFF2-40B4-BE49-F238E27FC236}">
                <a16:creationId xmlns:a16="http://schemas.microsoft.com/office/drawing/2014/main" id="{F78BE12E-7069-4CA3-9326-0FBB8D02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Synchronized timer</a:t>
            </a:r>
          </a:p>
        </p:txBody>
      </p:sp>
      <p:sp>
        <p:nvSpPr>
          <p:cNvPr id="14" name="dot-68-476">
            <a:extLst xmlns:a="http://schemas.openxmlformats.org/drawingml/2006/main">
              <a:ext uri="{FF2B5EF4-FFF2-40B4-BE49-F238E27FC236}">
                <a16:creationId xmlns:a16="http://schemas.microsoft.com/office/drawing/2014/main" id="{5C0F2906-97D4-4C47-904A-78792DF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-item-0-4">
            <a:extLst xmlns:a="http://schemas.openxmlformats.org/drawingml/2006/main">
              <a:ext uri="{FF2B5EF4-FFF2-40B4-BE49-F238E27FC236}">
                <a16:creationId xmlns:a16="http://schemas.microsoft.com/office/drawing/2014/main" id="{C6B06989-02EB-439E-9E43-F59CCA2A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Pause / resume / undo</a:t>
            </a:r>
          </a:p>
        </p:txBody>
      </p:sp>
      <p:sp>
        <p:nvSpPr>
          <p:cNvPr id="16" name="cap-1">
            <a:extLst xmlns:a="http://schemas.openxmlformats.org/drawingml/2006/main">
              <a:ext uri="{FF2B5EF4-FFF2-40B4-BE49-F238E27FC236}">
                <a16:creationId xmlns:a16="http://schemas.microsoft.com/office/drawing/2014/main" id="{798CD1EE-036A-4DD1-B2F0-F4E67336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p-title-1">
            <a:extLst xmlns:a="http://schemas.openxmlformats.org/drawingml/2006/main">
              <a:ext uri="{FF2B5EF4-FFF2-40B4-BE49-F238E27FC236}">
                <a16:creationId xmlns:a16="http://schemas.microsoft.com/office/drawing/2014/main" id="{795F7C12-86CD-4A79-86C0-A5642609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478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Ownership</a:t>
            </a:r>
          </a:p>
        </p:txBody>
      </p:sp>
      <p:sp>
        <p:nvSpPr>
          <p:cNvPr id="18" name="dot-368-284">
            <a:extLst xmlns:a="http://schemas.openxmlformats.org/drawingml/2006/main">
              <a:ext uri="{FF2B5EF4-FFF2-40B4-BE49-F238E27FC236}">
                <a16:creationId xmlns:a16="http://schemas.microsoft.com/office/drawing/2014/main" id="{5E4A0C76-6DDA-4621-ADB9-1959CCFC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p-item-1-0">
            <a:extLst xmlns:a="http://schemas.openxmlformats.org/drawingml/2006/main">
              <a:ext uri="{FF2B5EF4-FFF2-40B4-BE49-F238E27FC236}">
                <a16:creationId xmlns:a16="http://schemas.microsoft.com/office/drawing/2014/main" id="{A4FD3FF0-1A2C-4C44-96EF-1DF30270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81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Invite and join flows</a:t>
            </a:r>
          </a:p>
        </p:txBody>
      </p:sp>
      <p:sp>
        <p:nvSpPr>
          <p:cNvPr id="20" name="dot-368-332">
            <a:extLst xmlns:a="http://schemas.openxmlformats.org/drawingml/2006/main">
              <a:ext uri="{FF2B5EF4-FFF2-40B4-BE49-F238E27FC236}">
                <a16:creationId xmlns:a16="http://schemas.microsoft.com/office/drawing/2014/main" id="{5CA18DB8-F03E-470F-A2B6-7B8C8516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p-item-1-1">
            <a:extLst xmlns:a="http://schemas.openxmlformats.org/drawingml/2006/main">
              <a:ext uri="{FF2B5EF4-FFF2-40B4-BE49-F238E27FC236}">
                <a16:creationId xmlns:a16="http://schemas.microsoft.com/office/drawing/2014/main" id="{722B260A-9463-4D5D-8FCF-75764A08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384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Persistent league members</a:t>
            </a:r>
          </a:p>
        </p:txBody>
      </p:sp>
      <p:sp>
        <p:nvSpPr>
          <p:cNvPr id="22" name="dot-368-380">
            <a:extLst xmlns:a="http://schemas.openxmlformats.org/drawingml/2006/main">
              <a:ext uri="{FF2B5EF4-FFF2-40B4-BE49-F238E27FC236}">
                <a16:creationId xmlns:a16="http://schemas.microsoft.com/office/drawing/2014/main" id="{EF93B86A-534C-4C3F-8A5D-A33E8BF0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p-item-1-2">
            <a:extLst xmlns:a="http://schemas.openxmlformats.org/drawingml/2006/main">
              <a:ext uri="{FF2B5EF4-FFF2-40B4-BE49-F238E27FC236}">
                <a16:creationId xmlns:a16="http://schemas.microsoft.com/office/drawing/2014/main" id="{F64DF455-6580-4A28-BC5F-EFCBF038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Franchise team owners</a:t>
            </a:r>
          </a:p>
        </p:txBody>
      </p:sp>
      <p:sp>
        <p:nvSpPr>
          <p:cNvPr id="24" name="dot-368-428">
            <a:extLst xmlns:a="http://schemas.openxmlformats.org/drawingml/2006/main">
              <a:ext uri="{FF2B5EF4-FFF2-40B4-BE49-F238E27FC236}">
                <a16:creationId xmlns:a16="http://schemas.microsoft.com/office/drawing/2014/main" id="{D088A2C0-CF53-41E7-A128-C5B178A3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p-item-1-3">
            <a:extLst xmlns:a="http://schemas.openxmlformats.org/drawingml/2006/main">
              <a:ext uri="{FF2B5EF4-FFF2-40B4-BE49-F238E27FC236}">
                <a16:creationId xmlns:a16="http://schemas.microsoft.com/office/drawing/2014/main" id="{2FB53243-0E43-4115-A8F4-2125351E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Auto-assigned draft slots</a:t>
            </a:r>
          </a:p>
        </p:txBody>
      </p:sp>
      <p:sp>
        <p:nvSpPr>
          <p:cNvPr id="26" name="dot-368-476">
            <a:extLst xmlns:a="http://schemas.openxmlformats.org/drawingml/2006/main">
              <a:ext uri="{FF2B5EF4-FFF2-40B4-BE49-F238E27FC236}">
                <a16:creationId xmlns:a16="http://schemas.microsoft.com/office/drawing/2014/main" id="{86C7C286-B5BA-4CF0-B4EB-35A0EC9E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ap-item-1-4">
            <a:extLst xmlns:a="http://schemas.openxmlformats.org/drawingml/2006/main">
              <a:ext uri="{FF2B5EF4-FFF2-40B4-BE49-F238E27FC236}">
                <a16:creationId xmlns:a16="http://schemas.microsoft.com/office/drawing/2014/main" id="{87FBD5C9-740A-4E94-B098-6E015394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00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Owner profile controls</a:t>
            </a:r>
          </a:p>
        </p:txBody>
      </p:sp>
      <p:sp>
        <p:nvSpPr>
          <p:cNvPr id="28" name="cap-2">
            <a:extLst xmlns:a="http://schemas.openxmlformats.org/drawingml/2006/main">
              <a:ext uri="{FF2B5EF4-FFF2-40B4-BE49-F238E27FC236}">
                <a16:creationId xmlns:a16="http://schemas.microsoft.com/office/drawing/2014/main" id="{51FB16D2-D9CD-4BBA-83E2-8AC38CAB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192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p-title-2">
            <a:extLst xmlns:a="http://schemas.openxmlformats.org/drawingml/2006/main">
              <a:ext uri="{FF2B5EF4-FFF2-40B4-BE49-F238E27FC236}">
                <a16:creationId xmlns:a16="http://schemas.microsoft.com/office/drawing/2014/main" id="{6784A0CB-FE92-495A-929A-D4E0FF2F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Commissioner</a:t>
            </a:r>
          </a:p>
        </p:txBody>
      </p:sp>
      <p:sp>
        <p:nvSpPr>
          <p:cNvPr id="30" name="dot-668-284">
            <a:extLst xmlns:a="http://schemas.openxmlformats.org/drawingml/2006/main">
              <a:ext uri="{FF2B5EF4-FFF2-40B4-BE49-F238E27FC236}">
                <a16:creationId xmlns:a16="http://schemas.microsoft.com/office/drawing/2014/main" id="{25DDAF89-DE82-4176-AC69-6F9A7848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ap-item-2-0">
            <a:extLst xmlns:a="http://schemas.openxmlformats.org/drawingml/2006/main">
              <a:ext uri="{FF2B5EF4-FFF2-40B4-BE49-F238E27FC236}">
                <a16:creationId xmlns:a16="http://schemas.microsoft.com/office/drawing/2014/main" id="{30D0636D-30DA-446D-A3FA-CF5EB2F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All-team visibility</a:t>
            </a:r>
          </a:p>
        </p:txBody>
      </p:sp>
      <p:sp>
        <p:nvSpPr>
          <p:cNvPr id="32" name="dot-668-332">
            <a:extLst xmlns:a="http://schemas.openxmlformats.org/drawingml/2006/main">
              <a:ext uri="{FF2B5EF4-FFF2-40B4-BE49-F238E27FC236}">
                <a16:creationId xmlns:a16="http://schemas.microsoft.com/office/drawing/2014/main" id="{615185AD-6CFE-4F8B-B6F5-3E3CCDF9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ap-item-2-1">
            <a:extLst xmlns:a="http://schemas.openxmlformats.org/drawingml/2006/main">
              <a:ext uri="{FF2B5EF4-FFF2-40B4-BE49-F238E27FC236}">
                <a16:creationId xmlns:a16="http://schemas.microsoft.com/office/drawing/2014/main" id="{5288F499-8971-4BB6-A8A9-675445F1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Participant recovery</a:t>
            </a:r>
          </a:p>
        </p:txBody>
      </p:sp>
      <p:sp>
        <p:nvSpPr>
          <p:cNvPr id="34" name="dot-668-380">
            <a:extLst xmlns:a="http://schemas.openxmlformats.org/drawingml/2006/main">
              <a:ext uri="{FF2B5EF4-FFF2-40B4-BE49-F238E27FC236}">
                <a16:creationId xmlns:a16="http://schemas.microsoft.com/office/drawing/2014/main" id="{8895DCD5-3DC9-4C8F-BA46-BBB2BF5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p-item-2-2">
            <a:extLst xmlns:a="http://schemas.openxmlformats.org/drawingml/2006/main">
              <a:ext uri="{FF2B5EF4-FFF2-40B4-BE49-F238E27FC236}">
                <a16:creationId xmlns:a16="http://schemas.microsoft.com/office/drawing/2014/main" id="{DE3395F5-A1D4-4744-BE56-0A9D6076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Edit a pick</a:t>
            </a:r>
          </a:p>
        </p:txBody>
      </p:sp>
      <p:sp>
        <p:nvSpPr>
          <p:cNvPr id="36" name="dot-668-428">
            <a:extLst xmlns:a="http://schemas.openxmlformats.org/drawingml/2006/main">
              <a:ext uri="{FF2B5EF4-FFF2-40B4-BE49-F238E27FC236}">
                <a16:creationId xmlns:a16="http://schemas.microsoft.com/office/drawing/2014/main" id="{FC9AAC3C-5460-40B4-9FC4-0109943A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p-item-2-3">
            <a:extLst xmlns:a="http://schemas.openxmlformats.org/drawingml/2006/main">
              <a:ext uri="{FF2B5EF4-FFF2-40B4-BE49-F238E27FC236}">
                <a16:creationId xmlns:a16="http://schemas.microsoft.com/office/drawing/2014/main" id="{25969F49-09BD-40BA-AF0B-317429F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Reset and clock controls</a:t>
            </a:r>
          </a:p>
        </p:txBody>
      </p:sp>
      <p:sp>
        <p:nvSpPr>
          <p:cNvPr id="38" name="dot-668-476">
            <a:extLst xmlns:a="http://schemas.openxmlformats.org/drawingml/2006/main">
              <a:ext uri="{FF2B5EF4-FFF2-40B4-BE49-F238E27FC236}">
                <a16:creationId xmlns:a16="http://schemas.microsoft.com/office/drawing/2014/main" id="{772D7951-9E1B-444B-917D-D7B54C54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ap-item-2-4">
            <a:extLst xmlns:a="http://schemas.openxmlformats.org/drawingml/2006/main">
              <a:ext uri="{FF2B5EF4-FFF2-40B4-BE49-F238E27FC236}">
                <a16:creationId xmlns:a16="http://schemas.microsoft.com/office/drawing/2014/main" id="{232C70D9-4E9B-4CD8-86BE-3F56C1F1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Team and league settings</a:t>
            </a:r>
          </a:p>
        </p:txBody>
      </p:sp>
      <p:sp>
        <p:nvSpPr>
          <p:cNvPr id="40" name="cap-3">
            <a:extLst xmlns:a="http://schemas.openxmlformats.org/drawingml/2006/main">
              <a:ext uri="{FF2B5EF4-FFF2-40B4-BE49-F238E27FC236}">
                <a16:creationId xmlns:a16="http://schemas.microsoft.com/office/drawing/2014/main" id="{DF9C4637-3AE2-4AB9-A29C-D4814533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192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ap-title-3">
            <a:extLst xmlns:a="http://schemas.openxmlformats.org/drawingml/2006/main">
              <a:ext uri="{FF2B5EF4-FFF2-40B4-BE49-F238E27FC236}">
                <a16:creationId xmlns:a16="http://schemas.microsoft.com/office/drawing/2014/main" id="{9945B8A8-6C93-4FFA-8DFD-5AFB5B2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478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League platform</a:t>
            </a:r>
          </a:p>
        </p:txBody>
      </p:sp>
      <p:sp>
        <p:nvSpPr>
          <p:cNvPr id="42" name="dot-968-284">
            <a:extLst xmlns:a="http://schemas.openxmlformats.org/drawingml/2006/main">
              <a:ext uri="{FF2B5EF4-FFF2-40B4-BE49-F238E27FC236}">
                <a16:creationId xmlns:a16="http://schemas.microsoft.com/office/drawing/2014/main" id="{7C49F0A5-E05F-422C-BCF1-9945CF33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ap-item-3-0">
            <a:extLst xmlns:a="http://schemas.openxmlformats.org/drawingml/2006/main">
              <a:ext uri="{FF2B5EF4-FFF2-40B4-BE49-F238E27FC236}">
                <a16:creationId xmlns:a16="http://schemas.microsoft.com/office/drawing/2014/main" id="{64D98527-0BED-4167-8978-6AD00DB6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81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Dashboard + workspaces</a:t>
            </a:r>
          </a:p>
        </p:txBody>
      </p:sp>
      <p:sp>
        <p:nvSpPr>
          <p:cNvPr id="44" name="dot-968-332">
            <a:extLst xmlns:a="http://schemas.openxmlformats.org/drawingml/2006/main">
              <a:ext uri="{FF2B5EF4-FFF2-40B4-BE49-F238E27FC236}">
                <a16:creationId xmlns:a16="http://schemas.microsoft.com/office/drawing/2014/main" id="{7F8D61C5-8457-4131-92CB-A92739E5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ap-item-3-1">
            <a:extLst xmlns:a="http://schemas.openxmlformats.org/drawingml/2006/main">
              <a:ext uri="{FF2B5EF4-FFF2-40B4-BE49-F238E27FC236}">
                <a16:creationId xmlns:a16="http://schemas.microsoft.com/office/drawing/2014/main" id="{70DA54A4-9BEC-4D0C-8BB3-473377E0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384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Seasons and draft creation</a:t>
            </a:r>
          </a:p>
        </p:txBody>
      </p:sp>
      <p:sp>
        <p:nvSpPr>
          <p:cNvPr id="46" name="dot-968-380">
            <a:extLst xmlns:a="http://schemas.openxmlformats.org/drawingml/2006/main">
              <a:ext uri="{FF2B5EF4-FFF2-40B4-BE49-F238E27FC236}">
                <a16:creationId xmlns:a16="http://schemas.microsoft.com/office/drawing/2014/main" id="{34F21E4D-4FBF-467D-8CAE-5A6E28E5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ap-item-3-2">
            <a:extLst xmlns:a="http://schemas.openxmlformats.org/drawingml/2006/main">
              <a:ext uri="{FF2B5EF4-FFF2-40B4-BE49-F238E27FC236}">
                <a16:creationId xmlns:a16="http://schemas.microsoft.com/office/drawing/2014/main" id="{51C05E67-DEDA-498C-9DEC-5D415D87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League branding</a:t>
            </a:r>
          </a:p>
        </p:txBody>
      </p:sp>
      <p:sp>
        <p:nvSpPr>
          <p:cNvPr id="48" name="dot-968-428">
            <a:extLst xmlns:a="http://schemas.openxmlformats.org/drawingml/2006/main">
              <a:ext uri="{FF2B5EF4-FFF2-40B4-BE49-F238E27FC236}">
                <a16:creationId xmlns:a16="http://schemas.microsoft.com/office/drawing/2014/main" id="{E390A0F7-F6CC-4460-A852-1AC010D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ap-item-3-3">
            <a:extLst xmlns:a="http://schemas.openxmlformats.org/drawingml/2006/main">
              <a:ext uri="{FF2B5EF4-FFF2-40B4-BE49-F238E27FC236}">
                <a16:creationId xmlns:a16="http://schemas.microsoft.com/office/drawing/2014/main" id="{40ADD35C-462E-48B6-83FE-BFDA9FC3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52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Chat and lobby</a:t>
            </a:r>
          </a:p>
        </p:txBody>
      </p:sp>
      <p:sp>
        <p:nvSpPr>
          <p:cNvPr id="50" name="dot-968-476">
            <a:extLst xmlns:a="http://schemas.openxmlformats.org/drawingml/2006/main">
              <a:ext uri="{FF2B5EF4-FFF2-40B4-BE49-F238E27FC236}">
                <a16:creationId xmlns:a16="http://schemas.microsoft.com/office/drawing/2014/main" id="{750A0476-8AA8-4B06-8C61-9B770F0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ap-item-3-4">
            <a:extLst xmlns:a="http://schemas.openxmlformats.org/drawingml/2006/main">
              <a:ext uri="{FF2B5EF4-FFF2-40B4-BE49-F238E27FC236}">
                <a16:creationId xmlns:a16="http://schemas.microsoft.com/office/drawing/2014/main" id="{0855419B-34F8-4BD2-8BC6-66EE06FD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100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111F"/>
                </a:solidFill>
              </a:defRPr>
            </a:pPr>
            <a:r>
              <a:rPr sz="1200" b="0">
                <a:solidFill>
                  <a:srgbClr val="07111F"/>
                </a:solidFill>
              </a:rPr>
              <a:t>Sleeper + provider previews</a:t>
            </a:r>
          </a:p>
        </p:txBody>
      </p:sp>
      <p:sp>
        <p:nvSpPr>
          <p:cNvPr id="52" name="cap-bottom">
            <a:extLst xmlns:a="http://schemas.openxmlformats.org/drawingml/2006/main">
              <a:ext uri="{FF2B5EF4-FFF2-40B4-BE49-F238E27FC236}">
                <a16:creationId xmlns:a16="http://schemas.microsoft.com/office/drawing/2014/main" id="{04C433FE-D0D0-46F6-9398-5238079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ap-bottom-text">
            <a:extLst xmlns:a="http://schemas.openxmlformats.org/drawingml/2006/main">
              <a:ext uri="{FF2B5EF4-FFF2-40B4-BE49-F238E27FC236}">
                <a16:creationId xmlns:a16="http://schemas.microsoft.com/office/drawing/2014/main" id="{B79E5D59-AAE9-4817-A035-2EE39D54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 important part: this is no longer a static draft board. It is a connected, role-aware league workflow.</a:t>
            </a:r>
          </a:p>
        </p:txBody>
      </p:sp>
    </p:spTree>
    <p:extLst>
      <p:ext uri="{BB962C8B-B14F-4D97-AF65-F5344CB8AC3E}">
        <p14:creationId xmlns:p14="http://schemas.microsoft.com/office/powerpoint/2010/main" val="2849071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2">
            <a:extLst xmlns:a="http://schemas.openxmlformats.org/drawingml/2006/main">
              <a:ext uri="{FF2B5EF4-FFF2-40B4-BE49-F238E27FC236}">
                <a16:creationId xmlns:a16="http://schemas.microsoft.com/office/drawing/2014/main" id="{63BDD339-491C-4113-A318-C81BC09D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READINESS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96557ED-64ED-44B2-9129-B4E7E268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A lot works—and the next job is trust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C5F91602-CDF1-4FC9-9877-414BA5C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12</a:t>
            </a:r>
          </a:p>
        </p:txBody>
      </p:sp>
      <p:sp>
        <p:nvSpPr>
          <p:cNvPr id="4" name="ready-0">
            <a:extLst xmlns:a="http://schemas.openxmlformats.org/drawingml/2006/main">
              <a:ext uri="{FF2B5EF4-FFF2-40B4-BE49-F238E27FC236}">
                <a16:creationId xmlns:a16="http://schemas.microsoft.com/office/drawing/2014/main" id="{12F0942E-F3D0-401B-B834-AB50E66F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ady-n-0">
            <a:extLst xmlns:a="http://schemas.openxmlformats.org/drawingml/2006/main">
              <a:ext uri="{FF2B5EF4-FFF2-40B4-BE49-F238E27FC236}">
                <a16:creationId xmlns:a16="http://schemas.microsoft.com/office/drawing/2014/main" id="{AE686699-6041-4F1B-988D-B82B57D9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A36D"/>
                </a:solidFill>
              </a:defRPr>
            </a:pPr>
            <a:r>
              <a:rPr sz="3000" b="1">
                <a:solidFill>
                  <a:srgbClr val="16A36D"/>
                </a:solidFill>
              </a:rPr>
              <a:t>PASS</a:t>
            </a:r>
          </a:p>
        </p:txBody>
      </p:sp>
      <p:sp>
        <p:nvSpPr>
          <p:cNvPr id="6" name="ready-d-0">
            <a:extLst xmlns:a="http://schemas.openxmlformats.org/drawingml/2006/main">
              <a:ext uri="{FF2B5EF4-FFF2-40B4-BE49-F238E27FC236}">
                <a16:creationId xmlns:a16="http://schemas.microsoft.com/office/drawing/2014/main" id="{EF063E26-7B89-4E63-B6A3-817C65B5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Production build</a:t>
            </a:r>
          </a:p>
        </p:txBody>
      </p:sp>
      <p:sp>
        <p:nvSpPr>
          <p:cNvPr id="7" name="ready-1">
            <a:extLst xmlns:a="http://schemas.openxmlformats.org/drawingml/2006/main">
              <a:ext uri="{FF2B5EF4-FFF2-40B4-BE49-F238E27FC236}">
                <a16:creationId xmlns:a16="http://schemas.microsoft.com/office/drawing/2014/main" id="{D5550817-6A2D-415A-BFE1-BCB5F179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62125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ady-n-1">
            <a:extLst xmlns:a="http://schemas.openxmlformats.org/drawingml/2006/main">
              <a:ext uri="{FF2B5EF4-FFF2-40B4-BE49-F238E27FC236}">
                <a16:creationId xmlns:a16="http://schemas.microsoft.com/office/drawing/2014/main" id="{AB4AF37D-CE0A-4996-947F-4D40E9D7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8F84"/>
                </a:solidFill>
              </a:defRPr>
            </a:pPr>
            <a:r>
              <a:rPr sz="3000" b="1">
                <a:solidFill>
                  <a:srgbClr val="0F8F84"/>
                </a:solidFill>
              </a:rPr>
              <a:t>153 / 153</a:t>
            </a:r>
          </a:p>
        </p:txBody>
      </p:sp>
      <p:sp>
        <p:nvSpPr>
          <p:cNvPr id="9" name="ready-d-1">
            <a:extLst xmlns:a="http://schemas.openxmlformats.org/drawingml/2006/main">
              <a:ext uri="{FF2B5EF4-FFF2-40B4-BE49-F238E27FC236}">
                <a16:creationId xmlns:a16="http://schemas.microsoft.com/office/drawing/2014/main" id="{407B021E-6926-4F7C-A4F4-E5883FE1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43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Focused unit tests</a:t>
            </a:r>
          </a:p>
        </p:txBody>
      </p:sp>
      <p:sp>
        <p:nvSpPr>
          <p:cNvPr id="10" name="ready-2">
            <a:extLst xmlns:a="http://schemas.openxmlformats.org/drawingml/2006/main">
              <a:ext uri="{FF2B5EF4-FFF2-40B4-BE49-F238E27FC236}">
                <a16:creationId xmlns:a16="http://schemas.microsoft.com/office/drawing/2014/main" id="{49A56766-697E-4293-B656-8AA9A8BE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ady-n-2">
            <a:extLst xmlns:a="http://schemas.openxmlformats.org/drawingml/2006/main">
              <a:ext uri="{FF2B5EF4-FFF2-40B4-BE49-F238E27FC236}">
                <a16:creationId xmlns:a16="http://schemas.microsoft.com/office/drawing/2014/main" id="{2BF6D847-C924-4AE0-96DE-426723FE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D65C5C"/>
                </a:solidFill>
              </a:defRPr>
            </a:pPr>
            <a:r>
              <a:rPr sz="3000" b="1">
                <a:solidFill>
                  <a:srgbClr val="D65C5C"/>
                </a:solidFill>
              </a:rPr>
              <a:t>0</a:t>
            </a:r>
          </a:p>
        </p:txBody>
      </p:sp>
      <p:sp>
        <p:nvSpPr>
          <p:cNvPr id="12" name="ready-d-2">
            <a:extLst xmlns:a="http://schemas.openxmlformats.org/drawingml/2006/main">
              <a:ext uri="{FF2B5EF4-FFF2-40B4-BE49-F238E27FC236}">
                <a16:creationId xmlns:a16="http://schemas.microsoft.com/office/drawing/2014/main" id="{FFCE961A-2620-4301-8F35-E26754E1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TypeScript errors</a:t>
            </a:r>
          </a:p>
        </p:txBody>
      </p:sp>
      <p:sp>
        <p:nvSpPr>
          <p:cNvPr id="13" name="ready-3">
            <a:extLst xmlns:a="http://schemas.openxmlformats.org/drawingml/2006/main">
              <a:ext uri="{FF2B5EF4-FFF2-40B4-BE49-F238E27FC236}">
                <a16:creationId xmlns:a16="http://schemas.microsoft.com/office/drawing/2014/main" id="{2A1D2621-A2D4-4890-9CD2-3B8B5828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y-n-3">
            <a:extLst xmlns:a="http://schemas.openxmlformats.org/drawingml/2006/main">
              <a:ext uri="{FF2B5EF4-FFF2-40B4-BE49-F238E27FC236}">
                <a16:creationId xmlns:a16="http://schemas.microsoft.com/office/drawing/2014/main" id="{685148FA-790F-44CA-AD63-95B5D68D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E29A27"/>
                </a:solidFill>
              </a:defRPr>
            </a:pPr>
            <a:r>
              <a:rPr sz="3000" b="1">
                <a:solidFill>
                  <a:srgbClr val="E29A27"/>
                </a:solidFill>
              </a:rPr>
              <a:t>NEXT</a:t>
            </a:r>
          </a:p>
        </p:txBody>
      </p:sp>
      <p:sp>
        <p:nvSpPr>
          <p:cNvPr id="15" name="ready-d-3">
            <a:extLst xmlns:a="http://schemas.openxmlformats.org/drawingml/2006/main">
              <a:ext uri="{FF2B5EF4-FFF2-40B4-BE49-F238E27FC236}">
                <a16:creationId xmlns:a16="http://schemas.microsoft.com/office/drawing/2014/main" id="{BD46A3AF-BA3F-45E6-8CE5-15F7CABD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End-to-end hardening</a:t>
            </a:r>
          </a:p>
        </p:txBody>
      </p:sp>
      <p:sp>
        <p:nvSpPr>
          <p:cNvPr id="16" name="ready-thesis">
            <a:extLst xmlns:a="http://schemas.openxmlformats.org/drawingml/2006/main">
              <a:ext uri="{FF2B5EF4-FFF2-40B4-BE49-F238E27FC236}">
                <a16:creationId xmlns:a16="http://schemas.microsoft.com/office/drawing/2014/main" id="{1ABB3530-1C90-4732-8A43-7279B6FA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The product has moved faster than its verification layer.</a:t>
            </a:r>
          </a:p>
        </p:txBody>
      </p:sp>
      <p:sp>
        <p:nvSpPr>
          <p:cNvPr id="17" name="ready-copy">
            <a:extLst xmlns:a="http://schemas.openxmlformats.org/drawingml/2006/main">
              <a:ext uri="{FF2B5EF4-FFF2-40B4-BE49-F238E27FC236}">
                <a16:creationId xmlns:a16="http://schemas.microsoft.com/office/drawing/2014/main" id="{A9A5988F-E72A-4375-987C-0F2516B9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The right next move is a stabilization sprint: atomic setup operations, secured elevated routes, green lint, and realistic multiplayer regression coverage.</a:t>
            </a:r>
          </a:p>
        </p:txBody>
      </p:sp>
      <p:sp>
        <p:nvSpPr>
          <p:cNvPr id="18" name="pill-BUILD CONFIDENCE BEFORE MORE SURFACE AREA-42">
            <a:extLst xmlns:a="http://schemas.openxmlformats.org/drawingml/2006/main">
              <a:ext uri="{FF2B5EF4-FFF2-40B4-BE49-F238E27FC236}">
                <a16:creationId xmlns:a16="http://schemas.microsoft.com/office/drawing/2014/main" id="{BF118A83-5073-4F50-B62E-3A0182FB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3524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ll-text-BUILD CONFIDENCE BEFORE MORE SURFACE AREA-42">
            <a:extLst xmlns:a="http://schemas.openxmlformats.org/drawingml/2006/main">
              <a:ext uri="{FF2B5EF4-FFF2-40B4-BE49-F238E27FC236}">
                <a16:creationId xmlns:a16="http://schemas.microsoft.com/office/drawing/2014/main" id="{220260F9-2206-4CE8-AD2A-EEFD0CED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29A27"/>
                </a:solidFill>
              </a:defRPr>
            </a:pPr>
            <a:r>
              <a:rPr sz="975" b="1">
                <a:solidFill>
                  <a:srgbClr val="E29A27"/>
                </a:solidFill>
              </a:rPr>
              <a:t>BUILD CONFIDENCE BEFORE MORE SURFACE AREA</a:t>
            </a:r>
          </a:p>
        </p:txBody>
      </p:sp>
    </p:spTree>
    <p:extLst>
      <p:ext uri="{BB962C8B-B14F-4D97-AF65-F5344CB8AC3E}">
        <p14:creationId xmlns:p14="http://schemas.microsoft.com/office/powerpoint/2010/main" val="7481875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13">
            <a:extLst xmlns:a="http://schemas.openxmlformats.org/drawingml/2006/main">
              <a:ext uri="{FF2B5EF4-FFF2-40B4-BE49-F238E27FC236}">
                <a16:creationId xmlns:a16="http://schemas.microsoft.com/office/drawing/2014/main" id="{45F6FC90-FFF8-46DF-9700-959E595E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F84"/>
                </a:solidFill>
              </a:defRPr>
            </a:pPr>
            <a:r>
              <a:rPr sz="1050" b="1">
                <a:solidFill>
                  <a:srgbClr val="0F8F84"/>
                </a:solidFill>
              </a:rPr>
              <a:t>ROADMAP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015A6579-11E9-4585-9A9B-3123843E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Planned sequence from here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E0B38956-EFC7-44B6-B75C-052422A5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16D"/>
                </a:solidFill>
              </a:defRPr>
            </a:pPr>
            <a:r>
              <a:rPr sz="975" b="0">
                <a:solidFill>
                  <a:srgbClr val="53616D"/>
                </a:solidFill>
              </a:rPr>
              <a:t>13</a:t>
            </a:r>
          </a:p>
        </p:txBody>
      </p:sp>
      <p:cxnSp>
        <p:nvCxnSpPr>
          <p:cNvPr id="39" name="rule-42-315"/>
          <p:cNvCxnSpPr/>
          <p:nvPr/>
        </p:nvCxnSpPr>
        <p:spPr>
          <a:xfrm xmlns:a="http://schemas.openxmlformats.org/drawingml/2006/main">
            <a:off x="400050" y="3000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CDD3"/>
            </a:solidFill>
            <a:prstDash val="solid"/>
          </a:ln>
        </p:spPr>
      </p:cxnSp>
      <p:sp>
        <p:nvSpPr>
          <p:cNvPr id="5" name="dot-52-309">
            <a:extLst xmlns:a="http://schemas.openxmlformats.org/drawingml/2006/main">
              <a:ext uri="{FF2B5EF4-FFF2-40B4-BE49-F238E27FC236}">
                <a16:creationId xmlns:a16="http://schemas.microsoft.com/office/drawing/2014/main" id="{6CA27B60-09CE-4943-8A13-65537FD5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C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ll-NOW-42">
            <a:extLst xmlns:a="http://schemas.openxmlformats.org/drawingml/2006/main">
              <a:ext uri="{FF2B5EF4-FFF2-40B4-BE49-F238E27FC236}">
                <a16:creationId xmlns:a16="http://schemas.microsoft.com/office/drawing/2014/main" id="{7FC44E5F-4722-4EBC-B4F6-A9C01A39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ll-text-NOW-42">
            <a:extLst xmlns:a="http://schemas.openxmlformats.org/drawingml/2006/main">
              <a:ext uri="{FF2B5EF4-FFF2-40B4-BE49-F238E27FC236}">
                <a16:creationId xmlns:a16="http://schemas.microsoft.com/office/drawing/2014/main" id="{79B188C5-8127-48DC-ADB1-7E11252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8F84"/>
                </a:solidFill>
              </a:defRPr>
            </a:pPr>
            <a:r>
              <a:rPr sz="975" b="1">
                <a:solidFill>
                  <a:srgbClr val="0F8F84"/>
                </a:solidFill>
              </a:rPr>
              <a:t>NOW</a:t>
            </a:r>
          </a:p>
        </p:txBody>
      </p:sp>
      <p:sp>
        <p:nvSpPr>
          <p:cNvPr id="8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59E1DFC8-DEBC-4AC0-B691-A2B56838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Stabilize</a:t>
            </a:r>
          </a:p>
        </p:txBody>
      </p:sp>
      <p:sp>
        <p:nvSpPr>
          <p:cNvPr id="9" name="phase-items-0">
            <a:extLst xmlns:a="http://schemas.openxmlformats.org/drawingml/2006/main">
              <a:ext uri="{FF2B5EF4-FFF2-40B4-BE49-F238E27FC236}">
                <a16:creationId xmlns:a16="http://schemas.microsoft.com/office/drawing/2014/main" id="{2EE88D00-0B2E-43B6-B4E0-3121D606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Setup correctness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Security + lint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DB / E2E gates</a:t>
            </a:r>
          </a:p>
        </p:txBody>
      </p:sp>
      <p:sp>
        <p:nvSpPr>
          <p:cNvPr id="10" name="dot-352-309">
            <a:extLst xmlns:a="http://schemas.openxmlformats.org/drawingml/2006/main">
              <a:ext uri="{FF2B5EF4-FFF2-40B4-BE49-F238E27FC236}">
                <a16:creationId xmlns:a16="http://schemas.microsoft.com/office/drawing/2014/main" id="{A90C5DA3-BAE1-4FA4-8F0E-1811844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ill-NEXT-342">
            <a:extLst xmlns:a="http://schemas.openxmlformats.org/drawingml/2006/main">
              <a:ext uri="{FF2B5EF4-FFF2-40B4-BE49-F238E27FC236}">
                <a16:creationId xmlns:a16="http://schemas.microsoft.com/office/drawing/2014/main" id="{9B08FCD3-36BB-41D7-9DF4-52A1B147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66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ill-text-NEXT-342">
            <a:extLst xmlns:a="http://schemas.openxmlformats.org/drawingml/2006/main">
              <a:ext uri="{FF2B5EF4-FFF2-40B4-BE49-F238E27FC236}">
                <a16:creationId xmlns:a16="http://schemas.microsoft.com/office/drawing/2014/main" id="{B4EB739F-EDB8-40EE-A6A0-9C28D135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85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NEXT</a:t>
            </a:r>
          </a:p>
        </p:txBody>
      </p:sp>
      <p:sp>
        <p:nvSpPr>
          <p:cNvPr id="13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98014460-CDF7-4231-9FE7-48B8B45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Finish release core</a:t>
            </a:r>
          </a:p>
        </p:txBody>
      </p:sp>
      <p:sp>
        <p:nvSpPr>
          <p:cNvPr id="14" name="phase-items-1">
            <a:extLst xmlns:a="http://schemas.openxmlformats.org/drawingml/2006/main">
              <a:ext uri="{FF2B5EF4-FFF2-40B4-BE49-F238E27FC236}">
                <a16:creationId xmlns:a16="http://schemas.microsoft.com/office/drawing/2014/main" id="{58FDF972-EA8A-44C9-A417-ABB64C10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29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Ownership edge cases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Timer confidence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Real-device mobile</a:t>
            </a:r>
          </a:p>
        </p:txBody>
      </p:sp>
      <p:sp>
        <p:nvSpPr>
          <p:cNvPr id="15" name="dot-652-309">
            <a:extLst xmlns:a="http://schemas.openxmlformats.org/drawingml/2006/main">
              <a:ext uri="{FF2B5EF4-FFF2-40B4-BE49-F238E27FC236}">
                <a16:creationId xmlns:a16="http://schemas.microsoft.com/office/drawing/2014/main" id="{F260D401-42A8-43F5-9CB5-BCA582ED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ill-THEN-642">
            <a:extLst xmlns:a="http://schemas.openxmlformats.org/drawingml/2006/main">
              <a:ext uri="{FF2B5EF4-FFF2-40B4-BE49-F238E27FC236}">
                <a16:creationId xmlns:a16="http://schemas.microsoft.com/office/drawing/2014/main" id="{C8F6F537-6464-44B6-A87C-915F2E7B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ill-text-THEN-642">
            <a:extLst xmlns:a="http://schemas.openxmlformats.org/drawingml/2006/main">
              <a:ext uri="{FF2B5EF4-FFF2-40B4-BE49-F238E27FC236}">
                <a16:creationId xmlns:a16="http://schemas.microsoft.com/office/drawing/2014/main" id="{6B8CEA09-D23D-4E4C-B2CC-40F71C66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85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THEN</a:t>
            </a:r>
          </a:p>
        </p:txBody>
      </p:sp>
      <p:sp>
        <p:nvSpPr>
          <p:cNvPr id="18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901683BC-7F48-4318-9D2D-5E1CAD97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League continuity</a:t>
            </a:r>
          </a:p>
        </p:txBody>
      </p:sp>
      <p:sp>
        <p:nvSpPr>
          <p:cNvPr id="19" name="phase-items-2">
            <a:extLst xmlns:a="http://schemas.openxmlformats.org/drawingml/2006/main">
              <a:ext uri="{FF2B5EF4-FFF2-40B4-BE49-F238E27FC236}">
                <a16:creationId xmlns:a16="http://schemas.microsoft.com/office/drawing/2014/main" id="{DE326241-7560-4C7D-BD74-191E149A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Season archive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Member archive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League history</a:t>
            </a:r>
          </a:p>
        </p:txBody>
      </p:sp>
      <p:sp>
        <p:nvSpPr>
          <p:cNvPr id="20" name="dot-952-309">
            <a:extLst xmlns:a="http://schemas.openxmlformats.org/drawingml/2006/main">
              <a:ext uri="{FF2B5EF4-FFF2-40B4-BE49-F238E27FC236}">
                <a16:creationId xmlns:a16="http://schemas.microsoft.com/office/drawing/2014/main" id="{DA5EF924-296D-4A18-A107-DD1D6870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ll-LATER-942">
            <a:extLst xmlns:a="http://schemas.openxmlformats.org/drawingml/2006/main">
              <a:ext uri="{FF2B5EF4-FFF2-40B4-BE49-F238E27FC236}">
                <a16:creationId xmlns:a16="http://schemas.microsoft.com/office/drawing/2014/main" id="{527F939E-F8C0-44B4-8B05-B138C01C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66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ll-text-LATER-942">
            <a:extLst xmlns:a="http://schemas.openxmlformats.org/drawingml/2006/main">
              <a:ext uri="{FF2B5EF4-FFF2-40B4-BE49-F238E27FC236}">
                <a16:creationId xmlns:a16="http://schemas.microsoft.com/office/drawing/2014/main" id="{FDBF2B20-84CB-4A66-ADB6-F9BFCE11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85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LATER</a:t>
            </a:r>
          </a:p>
        </p:txBody>
      </p:sp>
      <p:sp>
        <p:nvSpPr>
          <p:cNvPr id="23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53288F50-54FC-4DD8-9EFA-B6BCD887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Advanced experience</a:t>
            </a:r>
          </a:p>
        </p:txBody>
      </p:sp>
      <p:sp>
        <p:nvSpPr>
          <p:cNvPr id="24" name="phase-items-3">
            <a:extLst xmlns:a="http://schemas.openxmlformats.org/drawingml/2006/main">
              <a:ext uri="{FF2B5EF4-FFF2-40B4-BE49-F238E27FC236}">
                <a16:creationId xmlns:a16="http://schemas.microsoft.com/office/drawing/2014/main" id="{44C59D6F-FF3C-481C-84E8-B6572236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Rankings polish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Landmine mode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• Walk-up songs</a:t>
            </a:r>
          </a:p>
        </p:txBody>
      </p:sp>
      <p:sp>
        <p:nvSpPr>
          <p:cNvPr id="25" name="roadmap-band">
            <a:extLst xmlns:a="http://schemas.openxmlformats.org/drawingml/2006/main">
              <a:ext uri="{FF2B5EF4-FFF2-40B4-BE49-F238E27FC236}">
                <a16:creationId xmlns:a16="http://schemas.microsoft.com/office/drawing/2014/main" id="{B50830CB-6A41-401F-9154-2B7AABAD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oadmap-band-title">
            <a:extLst xmlns:a="http://schemas.openxmlformats.org/drawingml/2006/main">
              <a:ext uri="{FF2B5EF4-FFF2-40B4-BE49-F238E27FC236}">
                <a16:creationId xmlns:a16="http://schemas.microsoft.com/office/drawing/2014/main" id="{2769F411-1625-41B3-97BD-EEE89E61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C6B3"/>
                </a:solidFill>
              </a:defRPr>
            </a:pPr>
            <a:r>
              <a:rPr sz="1350" b="1">
                <a:solidFill>
                  <a:srgbClr val="19C6B3"/>
                </a:solidFill>
              </a:rPr>
              <a:t>Guiding rule</a:t>
            </a:r>
          </a:p>
        </p:txBody>
      </p:sp>
      <p:sp>
        <p:nvSpPr>
          <p:cNvPr id="27" name="roadmap-band-copy">
            <a:extLst xmlns:a="http://schemas.openxmlformats.org/drawingml/2006/main">
              <a:ext uri="{FF2B5EF4-FFF2-40B4-BE49-F238E27FC236}">
                <a16:creationId xmlns:a16="http://schemas.microsoft.com/office/drawing/2014/main" id="{2036961F-5FC2-491E-A10E-CEE5160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Reliable multiplayer first. Every new feature earns its place by making draft night—or the league around it—meaningfully better.</a:t>
            </a:r>
          </a:p>
        </p:txBody>
      </p:sp>
    </p:spTree>
    <p:extLst>
      <p:ext uri="{BB962C8B-B14F-4D97-AF65-F5344CB8AC3E}">
        <p14:creationId xmlns:p14="http://schemas.microsoft.com/office/powerpoint/2010/main" val="19460658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DD22CB82-79B1-412E-8BEA-2D4954B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C6B3"/>
                </a:solidFill>
              </a:defRPr>
            </a:pPr>
            <a:r>
              <a:rPr sz="1125" b="1">
                <a:solidFill>
                  <a:srgbClr val="19C6B3"/>
                </a:solidFill>
              </a:rPr>
              <a:t>THE CONVERSATION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1EDDCF7-36F9-434E-92A2-C98EB5BD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DraftHQ is becoming the place a league runs—not only the screen it drafts on.</a:t>
            </a:r>
          </a:p>
        </p:txBody>
      </p:sp>
      <p:cxnSp>
        <p:nvCxnSpPr>
          <p:cNvPr id="18" name="rule-42-350"/>
          <p:cNvCxnSpPr/>
          <p:nvPr/>
        </p:nvCxnSpPr>
        <p:spPr>
          <a:xfrm xmlns:a="http://schemas.openxmlformats.org/drawingml/2006/main">
            <a:off x="400050" y="33337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465A"/>
            </a:solidFill>
            <a:prstDash val="solid"/>
          </a:ln>
        </p:spPr>
      </p:cxnSp>
      <p:sp>
        <p:nvSpPr>
          <p:cNvPr id="4" name="close-prompt">
            <a:extLst xmlns:a="http://schemas.openxmlformats.org/drawingml/2006/main">
              <a:ext uri="{FF2B5EF4-FFF2-40B4-BE49-F238E27FC236}">
                <a16:creationId xmlns:a16="http://schemas.microsoft.com/office/drawing/2014/main" id="{0A8B95FC-C64C-4DAB-BD47-419FDF08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What would make you trust this on your own draft night?</a:t>
            </a:r>
          </a:p>
        </p:txBody>
      </p:sp>
      <p:sp>
        <p:nvSpPr>
          <p:cNvPr id="5" name="close-questions">
            <a:extLst xmlns:a="http://schemas.openxmlformats.org/drawingml/2006/main">
              <a:ext uri="{FF2B5EF4-FFF2-40B4-BE49-F238E27FC236}">
                <a16:creationId xmlns:a16="http://schemas.microsoft.com/office/drawing/2014/main" id="{543B22A4-344D-4459-8076-8DC3111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8D3DE"/>
                </a:solidFill>
              </a:defRPr>
            </a:pPr>
            <a:r>
              <a:rPr sz="1500" b="0">
                <a:solidFill>
                  <a:srgbClr val="C8D3DE"/>
                </a:solidFill>
              </a:rPr>
              <a:t>• Which screen feels most valuable?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D3DE"/>
                </a:solidFill>
              </a:defRPr>
            </a:pPr>
            <a:r>
              <a:rPr sz="1500" b="0">
                <a:solidFill>
                  <a:srgbClr val="C8D3DE"/>
                </a:solidFill>
              </a:rPr>
              <a:t>• What would you need before inviting your league?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D3DE"/>
                </a:solidFill>
              </a:defRPr>
            </a:pPr>
            <a:r>
              <a:rPr sz="1500" b="0">
                <a:solidFill>
                  <a:srgbClr val="C8D3DE"/>
                </a:solidFill>
              </a:rPr>
              <a:t>• Which future feature would actually keep you coming back?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0180889e047dd"/>
          <a:stretch xmlns:a="http://schemas.openxmlformats.org/drawingml/2006/main"/>
        </p:blipFill>
        <p:spPr>
          <a:xfrm xmlns:a="http://schemas.openxmlformats.org/drawingml/2006/main">
            <a:off x="8096250" y="4900399"/>
            <a:ext cx="3238500" cy="676701"/>
          </a:xfrm>
          <a:prstGeom xmlns:a="http://schemas.openxmlformats.org/drawingml/2006/main" prst="rect">
            <a:avLst/>
          </a:prstGeom>
        </p:spPr>
      </p:pic>
      <p:sp>
        <p:nvSpPr>
          <p:cNvPr id="7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026DA6AA-B395-4C53-830C-678C3C2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48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9C6B3"/>
                </a:solidFill>
              </a:defRPr>
            </a:pPr>
            <a:r>
              <a:rPr sz="1050" b="1">
                <a:solidFill>
                  <a:srgbClr val="19C6B3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342985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2026-06-29T04:17:33.8440000Z</dcterms:created>
  <dcterms:modified xsi:type="dcterms:W3CDTF">2026-06-29T04:17:33.8440000Z</dcterms:modified>
</coreProperties>
</file>